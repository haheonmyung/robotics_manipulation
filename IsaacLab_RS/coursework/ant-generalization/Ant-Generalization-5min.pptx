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6adbf962e44028" /><Relationship Type="http://schemas.openxmlformats.org/officeDocument/2006/relationships/extended-properties" Target="/docProps/app.xml" Id="Rd259c6977dd8445a" /><Relationship Type="http://schemas.openxmlformats.org/officeDocument/2006/relationships/officeDocument" Target="/ppt/presentation.xml" Id="R617d816478ca4c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7ac89d6cf346cb"/>
  </p:sldMasterIdLst>
  <p:notesMasterIdLst>
    <p:notesMasterId xmlns:r="http://schemas.openxmlformats.org/officeDocument/2006/relationships" r:id="R2f277d50c6bd4b0a"/>
  </p:notesMasterIdLst>
  <p:sldIdLst>
    <p:sldId xmlns:r="http://schemas.openxmlformats.org/officeDocument/2006/relationships" id="256" r:id="R6b3f786fe01b492f"/>
    <p:sldId xmlns:r="http://schemas.openxmlformats.org/officeDocument/2006/relationships" id="257" r:id="R402acdc3ff4e4f06"/>
    <p:sldId xmlns:r="http://schemas.openxmlformats.org/officeDocument/2006/relationships" id="258" r:id="R366fa39725bc4b22"/>
    <p:sldId xmlns:r="http://schemas.openxmlformats.org/officeDocument/2006/relationships" id="259" r:id="Rc4520f0cdf004278"/>
    <p:sldId xmlns:r="http://schemas.openxmlformats.org/officeDocument/2006/relationships" id="260" r:id="Rf3e79b68d86a43a2"/>
    <p:sldId xmlns:r="http://schemas.openxmlformats.org/officeDocument/2006/relationships" id="261" r:id="R16053835aa494439"/>
    <p:sldId xmlns:r="http://schemas.openxmlformats.org/officeDocument/2006/relationships" id="262" r:id="R22a4dc2aafa44601"/>
    <p:sldId xmlns:r="http://schemas.openxmlformats.org/officeDocument/2006/relationships" id="263" r:id="R725ce84e680d43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4fd7b25fac408f" /><Relationship Type="http://schemas.openxmlformats.org/officeDocument/2006/relationships/slideMaster" Target="/ppt/slideMasters/slideMaster1.xml" Id="Rbf7ac89d6cf346cb" /><Relationship Type="http://schemas.openxmlformats.org/officeDocument/2006/relationships/notesMaster" Target="/ppt/notesMasters/notesMaster1.xml" Id="R2f277d50c6bd4b0a" /><Relationship Type="http://schemas.openxmlformats.org/officeDocument/2006/relationships/presProps" Target="/ppt/presProps.xml" Id="Rfcf14406e8314a40" /><Relationship Type="http://schemas.openxmlformats.org/officeDocument/2006/relationships/tableStyles" Target="/ppt/tableStyles.xml" Id="Re62d997c8e934a58" /><Relationship Type="http://schemas.openxmlformats.org/officeDocument/2006/relationships/slide" Target="/ppt/slides/slide1.xml" Id="R6b3f786fe01b492f" /><Relationship Type="http://schemas.openxmlformats.org/officeDocument/2006/relationships/slide" Target="/ppt/slides/slide2.xml" Id="R402acdc3ff4e4f06" /><Relationship Type="http://schemas.openxmlformats.org/officeDocument/2006/relationships/slide" Target="/ppt/slides/slide3.xml" Id="R366fa39725bc4b22" /><Relationship Type="http://schemas.openxmlformats.org/officeDocument/2006/relationships/slide" Target="/ppt/slides/slide4.xml" Id="Rc4520f0cdf004278" /><Relationship Type="http://schemas.openxmlformats.org/officeDocument/2006/relationships/slide" Target="/ppt/slides/slide5.xml" Id="Rf3e79b68d86a43a2" /><Relationship Type="http://schemas.openxmlformats.org/officeDocument/2006/relationships/slide" Target="/ppt/slides/slide6.xml" Id="R16053835aa494439" /><Relationship Type="http://schemas.openxmlformats.org/officeDocument/2006/relationships/slide" Target="/ppt/slides/slide7.xml" Id="R22a4dc2aafa44601" /><Relationship Type="http://schemas.openxmlformats.org/officeDocument/2006/relationships/slide" Target="/ppt/slides/slide8.xml" Id="R725ce84e680d43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042034269746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68c1610e23476a" /><Relationship Type="http://schemas.openxmlformats.org/officeDocument/2006/relationships/notesMaster" Target="/ppt/notesMasters/notesMaster1.xml" Id="R652e4210f38c4d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f612aa3c27426d" /><Relationship Type="http://schemas.openxmlformats.org/officeDocument/2006/relationships/notesMaster" Target="/ppt/notesMasters/notesMaster1.xml" Id="Rccacc6ba38f041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a47f52febf4f38" /><Relationship Type="http://schemas.openxmlformats.org/officeDocument/2006/relationships/notesMaster" Target="/ppt/notesMasters/notesMaster1.xml" Id="Rbb7735b1cfa345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71e786354b43bb" /><Relationship Type="http://schemas.openxmlformats.org/officeDocument/2006/relationships/notesMaster" Target="/ppt/notesMasters/notesMaster1.xml" Id="R5feb34e50ffe4b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f2371c5f014764" /><Relationship Type="http://schemas.openxmlformats.org/officeDocument/2006/relationships/notesMaster" Target="/ppt/notesMasters/notesMaster1.xml" Id="R4a09d341841149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c16ccf25a949af" /><Relationship Type="http://schemas.openxmlformats.org/officeDocument/2006/relationships/notesMaster" Target="/ppt/notesMasters/notesMaster1.xml" Id="R041d706b88d84b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df2ab83a7f4d27" /><Relationship Type="http://schemas.openxmlformats.org/officeDocument/2006/relationships/notesMaster" Target="/ppt/notesMasters/notesMaster1.xml" Id="R9401719828084d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bcd9aed3894f6a" /><Relationship Type="http://schemas.openxmlformats.org/officeDocument/2006/relationships/notesMaster" Target="/ppt/notesMasters/notesMaster1.xml" Id="R89b7dba9964f48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목표는 학습 환경의 점수만 높이는 것이 아니라 물성이 달라져도 보행을 유지하는 것입니다. 과제 요구사항: Robotics_Simulation_Week03.pdf, 실습 과제 1. 자체 결과: analysis/summary.json, evaluation/*/*/episodes.csv. 조교의 비공개 평가 결과는 제공되지 않았음.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40초. 보상이나 신경망을 같이 바꾸면 무엇이 효과를 냈는지 알기 어려워 동일하게 유지했습니다. 물성은 startup에서 shape/body별로 뽑아 각 병렬 환경 내에서 고정됩니다. 교란은 힘 제어가 아니라 속도 오프셋입니다. 과제 요구사항: Robotics_Simulation_Week03.pdf, 실습 과제 1. 자체 결과: analysis/summary.json, evaluation/*/*/episodes.csv. 조교의 비공개 평가 결과는 제공되지 않았음.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40초. 세 가지 훈련 시드와 같은 예산으로 6개 정책을 만들었습니다. 네 가지 스트레스 테스트는 학습 전에 고정했고 결과에 따라 중간 체크포인트를 선택하지 않았습니다. 지형 변화는 이번 자체 검증에 포함하지 않았습니다. 과제 요구사항: Robotics_Simulation_Week03.pdf, 실습 과제 1. 자체 결과: analysis/summary.json, evaluation/*/*/episodes.csv. 조교의 비공개 평가 결과는 제공되지 않았음.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30초. 곡선은 방법별 3개 학습 시드의 평균이며 학습 분포가 다르므로 이 그래프만으로 일반화 우열을 판단하지 않습니다. 원본 시드별 곡선은 analysis/learning_curves.png에 있습니다. 과제 요구사항: Robotics_Simulation_Week03.pdf, 실습 과제 1. 자체 결과: analysis/summary.json, evaluation/*/*/episodes.csv. 조교의 비공개 평가 결과는 제공되지 않았음.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40초. 막대는 3개 독립 학습 정책의 평균 보상입니다. 학습 시드 간 분산은 다음 표에서 확인합니다. 조건별 점수를 모두 보여주며 잘된 조건만 고르지 않습니다. 과제 요구사항: Robotics_Simulation_Week03.pdf, 실습 과제 1. 자체 결과: analysis/summary.json, evaluation/*/*/episodes.csv. 조교의 비공개 평가 결과는 제공되지 않았음.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45초. ±값은 100개 에피소드의 표준편차가 아니라 학습 시드 3개의 평균 보상 간 표본 표준편차입니다. 과제의 에피소드 표준편차는 per_seed_results.csv에 모두 있습니다. 생존율만 높고 전진하지 않는 경우를 구분하려고 전진량도 별도 보고서에 제공합니다. 과제 요구사항: Robotics_Simulation_Week03.pdf, 실습 과제 1. 자체 결과: analysis/summary.json, evaluation/*/*/episodes.csv. 조교의 비공개 평가 결과는 제공되지 않았음.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45초. 사전에 정한 학습 시드 11과 환경 0의 영상을 사용하며 가장 잘된 시드를 고른 것이 아닙니다. 발표할 때 동봉한 videos/baseline-combined/rollout.mp4와 videos/randomized-combined/rollout.mp4를 재생합니다. 대표 영상은 전체 100개 환경 통계를 대체하지 않습니다. 과제 요구사항: Robotics_Simulation_Week03.pdf, 실습 과제 1. 자체 결과: analysis/summary.json, evaluation/*/*/episodes.csv. 조교의 비공개 평가 결과는 제공되지 않았음.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40초. 아래 결론은 자체 실험 결과만 다룹니다. 학습 시드가 3개이고 동역학 변화만 평가했으므로 통계적 유의성이나 비공개 지형 일반화를 확정하지 않습니다. 추가 ablation으로 마찰, 질량, 교란의 개별 기여를 구분할 필요가 있습니다. 과제 요구사항: Robotics_Simulation_Week03.pdf, 실습 과제 1. 자체 결과: analysis/summary.json, evaluation/*/*/episodes.csv. 조교의 비공개 평가 결과는 제공되지 않았음.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f3fab33d94b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dd59feb1ec4c04" /><Relationship Type="http://schemas.openxmlformats.org/officeDocument/2006/relationships/slideLayout" Target="/ppt/slideLayouts/slideLayout1.xml" Id="R3af36abf6adc49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f36abf6adc49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ce3866d2b444a" /><Relationship Type="http://schemas.openxmlformats.org/officeDocument/2006/relationships/image" Target="/ppt/media/image.png" Id="Rdf9e8980e1d44bcc" /><Relationship Type="http://schemas.openxmlformats.org/officeDocument/2006/relationships/notesSlide" Target="/ppt/notesSlides/notesSlide1.xml" Id="R97c13cc8061747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aebcc0ea64282" /><Relationship Type="http://schemas.openxmlformats.org/officeDocument/2006/relationships/notesSlide" Target="/ppt/notesSlides/notesSlide2.xml" Id="R4835b8271b6845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ea414a28941b2" /><Relationship Type="http://schemas.openxmlformats.org/officeDocument/2006/relationships/notesSlide" Target="/ppt/notesSlides/notesSlide3.xml" Id="R49d997e5bd8545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9b7ea1fd5412e" /><Relationship Type="http://schemas.openxmlformats.org/officeDocument/2006/relationships/chart" Target="/ppt/slides/charts/chart1.xml" Id="Rbe2ecf90d40641a8" /><Relationship Type="http://schemas.openxmlformats.org/officeDocument/2006/relationships/notesSlide" Target="/ppt/notesSlides/notesSlide4.xml" Id="Rb4d257f609a348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d1dbcf9254845" /><Relationship Type="http://schemas.openxmlformats.org/officeDocument/2006/relationships/chart" Target="/ppt/slides/charts/chart2.xml" Id="R77b4b0e2d07648e3" /><Relationship Type="http://schemas.openxmlformats.org/officeDocument/2006/relationships/notesSlide" Target="/ppt/notesSlides/notesSlide5.xml" Id="R946fd10e03884b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0d05e7be94808" /><Relationship Type="http://schemas.openxmlformats.org/officeDocument/2006/relationships/notesSlide" Target="/ppt/notesSlides/notesSlide6.xml" Id="R837d4a542dae43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9319f534942b3" /><Relationship Type="http://schemas.openxmlformats.org/officeDocument/2006/relationships/image" Target="/ppt/media/image2.png" Id="R8b5113a8d8e74c04" /><Relationship Type="http://schemas.openxmlformats.org/officeDocument/2006/relationships/image" Target="/ppt/media/image3.png" Id="R5232be1de53b4223" /><Relationship Type="http://schemas.openxmlformats.org/officeDocument/2006/relationships/notesSlide" Target="/ppt/notesSlides/notesSlide7.xml" Id="R26abfbccbeb34d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2b155a2984b1d" /><Relationship Type="http://schemas.openxmlformats.org/officeDocument/2006/relationships/notesSlide" Target="/ppt/notesSlides/notesSlide8.xml" Id="R8de6f0fa35274cf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기준 PPO</c:v>
          </c:tx>
          <c:spPr>
            <a:ln xmlns:a="http://schemas.openxmlformats.org/drawingml/2006/main" w="28575">
              <a:solidFill>
                <a:srgbClr val="526779"/>
              </a:solidFill>
            </a:ln>
          </c:spPr>
          <c:marker>
            <c:symbol val="none"/>
          </c:marker>
          <c:cat>
            <c:numRef>
              <c:f>'Chart Data'!$A$2:$A$26</c:f>
              <c:numCache>
                <c:formatCode>General</c:formatCode>
                <c:ptCount val="25"/>
                <c:pt idx="0">
                  <c:v>0.33</c:v>
                </c:pt>
                <c:pt idx="1">
                  <c:v>0.66</c:v>
                </c:pt>
                <c:pt idx="2">
                  <c:v>0.98</c:v>
                </c:pt>
                <c:pt idx="3">
                  <c:v>1.31</c:v>
                </c:pt>
                <c:pt idx="4">
                  <c:v>1.64</c:v>
                </c:pt>
                <c:pt idx="5">
                  <c:v>1.97</c:v>
                </c:pt>
                <c:pt idx="6">
                  <c:v>2.29</c:v>
                </c:pt>
                <c:pt idx="7">
                  <c:v>2.62</c:v>
                </c:pt>
                <c:pt idx="8">
                  <c:v>2.95</c:v>
                </c:pt>
                <c:pt idx="9">
                  <c:v>3.28</c:v>
                </c:pt>
                <c:pt idx="10">
                  <c:v>3.60</c:v>
                </c:pt>
                <c:pt idx="11">
                  <c:v>3.93</c:v>
                </c:pt>
                <c:pt idx="12">
                  <c:v>4.26</c:v>
                </c:pt>
                <c:pt idx="13">
                  <c:v>4.59</c:v>
                </c:pt>
                <c:pt idx="14">
                  <c:v>4.92</c:v>
                </c:pt>
                <c:pt idx="15">
                  <c:v>5.24</c:v>
                </c:pt>
                <c:pt idx="16">
                  <c:v>5.57</c:v>
                </c:pt>
                <c:pt idx="17">
                  <c:v>5.90</c:v>
                </c:pt>
                <c:pt idx="18">
                  <c:v>6.23</c:v>
                </c:pt>
                <c:pt idx="19">
                  <c:v>6.55</c:v>
                </c:pt>
                <c:pt idx="20">
                  <c:v>6.88</c:v>
                </c:pt>
                <c:pt idx="21">
                  <c:v>7.21</c:v>
                </c:pt>
                <c:pt idx="22">
                  <c:v>7.54</c:v>
                </c:pt>
                <c:pt idx="23">
                  <c:v>7.86</c:v>
                </c:pt>
                <c:pt idx="24">
                  <c:v>8.19</c:v>
                </c:pt>
              </c:numCache>
            </c:numRef>
          </c:cat>
          <c:val>
            <c:numRef>
              <c:f>'Chart Data'!$B$2:$B$26</c:f>
              <c:numCache>
                <c:formatCode>0</c:formatCode>
                <c:ptCount val="25"/>
                <c:pt idx="0">
                  <c:v>-5.496</c:v>
                </c:pt>
                <c:pt idx="1">
                  <c:v>1.773</c:v>
                </c:pt>
                <c:pt idx="2">
                  <c:v>8.014</c:v>
                </c:pt>
                <c:pt idx="3">
                  <c:v>14.413</c:v>
                </c:pt>
                <c:pt idx="4">
                  <c:v>26.248</c:v>
                </c:pt>
                <c:pt idx="5">
                  <c:v>30.516</c:v>
                </c:pt>
                <c:pt idx="6">
                  <c:v>38.044</c:v>
                </c:pt>
                <c:pt idx="7">
                  <c:v>45.933</c:v>
                </c:pt>
                <c:pt idx="8">
                  <c:v>47.816</c:v>
                </c:pt>
                <c:pt idx="9">
                  <c:v>51.814</c:v>
                </c:pt>
                <c:pt idx="10">
                  <c:v>58.249</c:v>
                </c:pt>
                <c:pt idx="11">
                  <c:v>59.008</c:v>
                </c:pt>
                <c:pt idx="12">
                  <c:v>63.208</c:v>
                </c:pt>
                <c:pt idx="13">
                  <c:v>66.834</c:v>
                </c:pt>
                <c:pt idx="14">
                  <c:v>66.349</c:v>
                </c:pt>
                <c:pt idx="15">
                  <c:v>70.363</c:v>
                </c:pt>
                <c:pt idx="16">
                  <c:v>74.456</c:v>
                </c:pt>
                <c:pt idx="17">
                  <c:v>77.585</c:v>
                </c:pt>
                <c:pt idx="18">
                  <c:v>77.816</c:v>
                </c:pt>
                <c:pt idx="19">
                  <c:v>81.692</c:v>
                </c:pt>
                <c:pt idx="20">
                  <c:v>83.111</c:v>
                </c:pt>
                <c:pt idx="21">
                  <c:v>85.993</c:v>
                </c:pt>
                <c:pt idx="22">
                  <c:v>86.466</c:v>
                </c:pt>
                <c:pt idx="23">
                  <c:v>88.446</c:v>
                </c:pt>
                <c:pt idx="24">
                  <c:v>90.717</c:v>
                </c:pt>
              </c:numCache>
            </c:numRef>
          </c:val>
          <c:smooth val="0"/>
        </c:ser>
        <c:ser>
          <c:idx val="1"/>
          <c:order val="1"/>
          <c:tx>
            <c:v>환경 무작위화 PPO</c:v>
          </c:tx>
          <c:spPr>
            <a:ln xmlns:a="http://schemas.openxmlformats.org/drawingml/2006/main" w="28575">
              <a:solidFill>
                <a:srgbClr val="009D93"/>
              </a:solidFill>
            </a:ln>
          </c:spPr>
          <c:marker>
            <c:symbol val="none"/>
          </c:marker>
          <c:cat>
            <c:numRef>
              <c:f>'Chart Data'!$C$2:$C$26</c:f>
              <c:numCache>
                <c:formatCode>General</c:formatCode>
                <c:ptCount val="25"/>
                <c:pt idx="0">
                  <c:v>0.33</c:v>
                </c:pt>
                <c:pt idx="1">
                  <c:v>0.66</c:v>
                </c:pt>
                <c:pt idx="2">
                  <c:v>0.98</c:v>
                </c:pt>
                <c:pt idx="3">
                  <c:v>1.31</c:v>
                </c:pt>
                <c:pt idx="4">
                  <c:v>1.64</c:v>
                </c:pt>
                <c:pt idx="5">
                  <c:v>1.97</c:v>
                </c:pt>
                <c:pt idx="6">
                  <c:v>2.29</c:v>
                </c:pt>
                <c:pt idx="7">
                  <c:v>2.62</c:v>
                </c:pt>
                <c:pt idx="8">
                  <c:v>2.95</c:v>
                </c:pt>
                <c:pt idx="9">
                  <c:v>3.28</c:v>
                </c:pt>
                <c:pt idx="10">
                  <c:v>3.60</c:v>
                </c:pt>
                <c:pt idx="11">
                  <c:v>3.93</c:v>
                </c:pt>
                <c:pt idx="12">
                  <c:v>4.26</c:v>
                </c:pt>
                <c:pt idx="13">
                  <c:v>4.59</c:v>
                </c:pt>
                <c:pt idx="14">
                  <c:v>4.92</c:v>
                </c:pt>
                <c:pt idx="15">
                  <c:v>5.24</c:v>
                </c:pt>
                <c:pt idx="16">
                  <c:v>5.57</c:v>
                </c:pt>
                <c:pt idx="17">
                  <c:v>5.90</c:v>
                </c:pt>
                <c:pt idx="18">
                  <c:v>6.23</c:v>
                </c:pt>
                <c:pt idx="19">
                  <c:v>6.55</c:v>
                </c:pt>
                <c:pt idx="20">
                  <c:v>6.88</c:v>
                </c:pt>
                <c:pt idx="21">
                  <c:v>7.21</c:v>
                </c:pt>
                <c:pt idx="22">
                  <c:v>7.54</c:v>
                </c:pt>
                <c:pt idx="23">
                  <c:v>7.86</c:v>
                </c:pt>
                <c:pt idx="24">
                  <c:v>8.19</c:v>
                </c:pt>
              </c:numCache>
            </c:numRef>
          </c:cat>
          <c:val>
            <c:numRef>
              <c:f>'Chart Data'!$D$2:$D$26</c:f>
              <c:numCache>
                <c:formatCode>0</c:formatCode>
                <c:ptCount val="25"/>
                <c:pt idx="0">
                  <c:v>-6.274</c:v>
                </c:pt>
                <c:pt idx="1">
                  <c:v>2.468</c:v>
                </c:pt>
                <c:pt idx="2">
                  <c:v>9.479</c:v>
                </c:pt>
                <c:pt idx="3">
                  <c:v>15.264</c:v>
                </c:pt>
                <c:pt idx="4">
                  <c:v>36.481</c:v>
                </c:pt>
                <c:pt idx="5">
                  <c:v>45.715</c:v>
                </c:pt>
                <c:pt idx="6">
                  <c:v>53.515</c:v>
                </c:pt>
                <c:pt idx="7">
                  <c:v>63.175</c:v>
                </c:pt>
                <c:pt idx="8">
                  <c:v>65.499</c:v>
                </c:pt>
                <c:pt idx="9">
                  <c:v>70.533</c:v>
                </c:pt>
                <c:pt idx="10">
                  <c:v>76.838</c:v>
                </c:pt>
                <c:pt idx="11">
                  <c:v>75.928</c:v>
                </c:pt>
                <c:pt idx="12">
                  <c:v>78.724</c:v>
                </c:pt>
                <c:pt idx="13">
                  <c:v>84.776</c:v>
                </c:pt>
                <c:pt idx="14">
                  <c:v>80.489</c:v>
                </c:pt>
                <c:pt idx="15">
                  <c:v>82.311</c:v>
                </c:pt>
                <c:pt idx="16">
                  <c:v>87.179</c:v>
                </c:pt>
                <c:pt idx="17">
                  <c:v>88.136</c:v>
                </c:pt>
                <c:pt idx="18">
                  <c:v>92.088</c:v>
                </c:pt>
                <c:pt idx="19">
                  <c:v>95.966</c:v>
                </c:pt>
                <c:pt idx="20">
                  <c:v>92.921</c:v>
                </c:pt>
                <c:pt idx="21">
                  <c:v>96.516</c:v>
                </c:pt>
                <c:pt idx="22">
                  <c:v>97.902</c:v>
                </c:pt>
                <c:pt idx="23">
                  <c:v>93.788</c:v>
                </c:pt>
                <c:pt idx="24">
                  <c:v>97.791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KR"/>
                  <a:ea typeface="Noto Sans CJK KR"/>
                  <a:cs typeface="Noto Sans CJK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 CJK KR"/>
                    <a:ea typeface="Noto Sans CJK KR"/>
                    <a:cs typeface="Noto Sans CJK KR"/>
                  </a:rPr>
                  <a:t>환경 상호작용 (백만)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KR"/>
                  <a:ea typeface="Noto Sans CJK KR"/>
                  <a:cs typeface="Noto Sans CJK KR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latin typeface="Noto Sans CJK KR"/>
                    <a:ea typeface="Noto Sans CJK KR"/>
                    <a:cs typeface="Noto Sans CJK KR"/>
                  </a:rPr>
                  <a:t>학습 에피소드 평균 보상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Noto Sans CJK KR"/>
                  <a:ea typeface="Noto Sans CJK KR"/>
                  <a:cs typeface="Noto Sans CJK KR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Noto Sans CJK KR"/>
              <a:ea typeface="Noto Sans CJK KR"/>
              <a:cs typeface="Noto Sans CJK KR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기준 PPO</c:v>
          </c:tx>
          <c:spPr>
            <a:solidFill xmlns:a="http://schemas.openxmlformats.org/drawingml/2006/main">
              <a:srgbClr val="526779"/>
            </a:solidFill>
          </c:spPr>
          <c:cat>
            <c:strRef>
              <c:f>'Chart Data'!$A$2:$A$6</c:f>
              <c:strCache>
                <c:ptCount val="5"/>
                <c:pt idx="0">
                  <c:v>Nominal</c:v>
                </c:pt>
                <c:pt idx="1">
                  <c:v>Slippery</c:v>
                </c:pt>
                <c:pt idx="2">
                  <c:v>Heavy</c:v>
                </c:pt>
                <c:pt idx="3">
                  <c:v>Strong kicks</c:v>
                </c:pt>
                <c:pt idx="4">
                  <c:v>Combined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92.261</c:v>
                </c:pt>
                <c:pt idx="1">
                  <c:v>53.541</c:v>
                </c:pt>
                <c:pt idx="2">
                  <c:v>67.388</c:v>
                </c:pt>
                <c:pt idx="3">
                  <c:v>92.115</c:v>
                </c:pt>
                <c:pt idx="4">
                  <c:v>57.069</c:v>
                </c:pt>
              </c:numCache>
            </c:numRef>
          </c:val>
        </c:ser>
        <c:ser>
          <c:idx val="1"/>
          <c:order val="1"/>
          <c:tx>
            <c:v>환경 무작위화 PPO</c:v>
          </c:tx>
          <c:spPr>
            <a:solidFill xmlns:a="http://schemas.openxmlformats.org/drawingml/2006/main">
              <a:srgbClr val="009D93"/>
            </a:solidFill>
          </c:spPr>
          <c:cat>
            <c:strRef>
              <c:f>'Chart Data'!$C$2:$C$6</c:f>
              <c:strCache>
                <c:ptCount val="5"/>
                <c:pt idx="0">
                  <c:v>Nominal</c:v>
                </c:pt>
                <c:pt idx="1">
                  <c:v>Slippery</c:v>
                </c:pt>
                <c:pt idx="2">
                  <c:v>Heavy</c:v>
                </c:pt>
                <c:pt idx="3">
                  <c:v>Strong kicks</c:v>
                </c:pt>
                <c:pt idx="4">
                  <c:v>Combined</c:v>
                </c:pt>
              </c:strCache>
            </c:str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91.616</c:v>
                </c:pt>
                <c:pt idx="1">
                  <c:v>76.094</c:v>
                </c:pt>
                <c:pt idx="2">
                  <c:v>58.02</c:v>
                </c:pt>
                <c:pt idx="3">
                  <c:v>93.023</c:v>
                </c:pt>
                <c:pt idx="4">
                  <c:v>78.596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Noto Sans CJK KR"/>
                  <a:ea typeface="Noto Sans CJK KR"/>
                  <a:cs typeface="Noto Sans CJK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latin typeface="Noto Sans CJK KR"/>
                    <a:ea typeface="Noto Sans CJK KR"/>
                    <a:cs typeface="Noto Sans CJK KR"/>
                  </a:rPr>
                  <a:t>첫 에피소드 누적 보상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Noto Sans CJK KR"/>
                  <a:ea typeface="Noto Sans CJK KR"/>
                  <a:cs typeface="Noto Sans CJK KR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Noto Sans CJK KR"/>
              <a:ea typeface="Noto Sans CJK KR"/>
              <a:cs typeface="Noto Sans CJK KR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0834A-256C-4E29-90FC-BA69A722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rPr>
              <a:t>새로운 조건에서도 걷는 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825CA-29CF-4184-A605-7C20B81B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CAE72-5AC8-492A-8804-72E87DED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9D9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09D93"/>
                </a:solidFill>
                <a:latin typeface="Noto Sans CJK KR"/>
                <a:ea typeface="Noto Sans CJK KR"/>
                <a:cs typeface="Noto Sans CJK KR"/>
              </a:rPr>
              <a:t>동역학 무작위화와 PPO의 일반화 비교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9e8980e1d44bcc"/>
          <a:stretch xmlns:a="http://schemas.openxmlformats.org/drawingml/2006/main"/>
        </p:blipFill>
        <p:spPr>
          <a:xfrm xmlns:a="http://schemas.openxmlformats.org/drawingml/2006/main">
            <a:off x="6588125" y="2143125"/>
            <a:ext cx="4635500" cy="3476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AA851-56F2-409B-BB46-57628333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5429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rPr>
              <a:t>기준 PPO vs. 환경 무작위화 PPO</a:t>
            </a:r>
          </a:p>
          <a:p xmlns:a="http://schemas.openxmlformats.org/drawingml/2006/main">
            <a:pPr>
              <a:defRPr sz="2400" b="0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rPr>
              <a:t>독립 학습 시드 3개</a:t>
            </a:r>
          </a:p>
          <a:p xmlns:a="http://schemas.openxmlformats.org/drawingml/2006/main">
            <a:pPr>
              <a:defRPr sz="2400" b="0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rPr>
              <a:t>조건별 100개 환경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F787F-841C-416E-AFF2-5F3055BE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rPr>
              <a:t>IsaacLab v2.3.0 · Isaac Sim 5.1 · RSL-RL 3.0.1</a:t>
            </a:r>
          </a:p>
        </p:txBody>
      </p:sp>
    </p:spTree>
    <p:extLst>
      <p:ext uri="{BB962C8B-B14F-4D97-AF65-F5344CB8AC3E}">
        <p14:creationId xmlns:p14="http://schemas.microsoft.com/office/powerpoint/2010/main" val="439759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BBB20-2E55-416D-98E6-B76C9113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rPr>
              <a:t>환경 경험의 범위만 바꾸는 실험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8898B-5CD3-4140-B7E8-D884AE33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EA526-353C-43A6-AF3E-745E8D62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9D9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009D93"/>
                </a:solidFill>
                <a:latin typeface="Noto Sans CJK KR"/>
                <a:ea typeface="Noto Sans CJK KR"/>
                <a:cs typeface="Noto Sans CJK KR"/>
              </a:rPr>
              <a:t>가설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6A46B-B806-4CF7-BD27-8B145B34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rPr>
              <a:t>마찰·질량·작은 충격을 다양하게 경험하면</a:t>
            </a:r>
          </a:p>
          <a:p xmlns:a="http://schemas.openxmlformats.org/drawingml/2006/main">
            <a:pPr>
              <a:defRPr sz="2550" b="0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rPr>
              <a:t>학습 범위 밖의 변화에도 보행 성능이 덜 감소한다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19125" y="3381375"/>
          <a:ext xmlns:a="http://schemas.openxmlformats.org/drawingml/2006/main" cx="109537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71500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동일하게 유지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환경 무작위화에서만 변경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관측 60차원 / 행동 8차원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마찰 0.5~1.25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보상 함수 / PPO / 신경망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각 몸체 질량 0.8~1.2배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학습량 / 학습 시드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4~7초 간격 각 축 ±0.3 m/s 교란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5B0C9-0946-40EE-B696-9584B013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rPr>
              <a:t>기준 물성도 명시적으로 통일: 바닥 마찰 1, multiply 조합</a:t>
            </a:r>
          </a:p>
        </p:txBody>
      </p:sp>
    </p:spTree>
    <p:extLst>
      <p:ext uri="{BB962C8B-B14F-4D97-AF65-F5344CB8AC3E}">
        <p14:creationId xmlns:p14="http://schemas.microsoft.com/office/powerpoint/2010/main" val="16624784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0C4E5-C689-427A-8799-973DCC34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rPr>
              <a:t>학습과 분리한 평가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EB267-0E16-436F-A809-DA15727C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08507-37C0-4751-8753-AC9D969B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9D9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9D93"/>
                </a:solidFill>
                <a:latin typeface="Noto Sans CJK KR"/>
                <a:ea typeface="Noto Sans CJK KR"/>
                <a:cs typeface="Noto Sans CJK KR"/>
              </a:rPr>
              <a:t>512개 환경 × 32스텝 × 500회 = 정책당 819만 transitions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19125" y="2095500"/>
          <a:ext xmlns:a="http://schemas.openxmlformats.org/drawingml/2006/main" cx="109537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095500"/>
                <a:gridCol w="2190750"/>
                <a:gridCol w="3524250"/>
              </a:tblGrid>
              <a:tr h="539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평가 조건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마찰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질량 배율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속도 교란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Nominal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Slippery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0.2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없음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Heavy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Strong kicks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±0.8 m/s, 3초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Combined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1.35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±0.5 m/s, 3초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55058-A4EF-453C-A903-5361AF18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rPr>
              <a:t>각 조건 100개 첫 에피소드 · 최대 16초 · 최종 체크포인트 고정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7BF23-19D7-43EC-BD6A-D3BFC79F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8647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rPr>
              <a:t>조교의 비공개 평가 환경과는 다른 자체 스트레스 테스트입니다</a:t>
            </a:r>
          </a:p>
        </p:txBody>
      </p:sp>
    </p:spTree>
    <p:extLst>
      <p:ext uri="{BB962C8B-B14F-4D97-AF65-F5344CB8AC3E}">
        <p14:creationId xmlns:p14="http://schemas.microsoft.com/office/powerpoint/2010/main" val="9684240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BB0CC-A72F-43EF-9930-012C57EB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rPr>
              <a:t>같은 학습량에서의 학습 곡선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0DF2D-8EC7-4A1F-8E06-F7B8A6BF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714375" y="1381125"/>
          <a:ext xmlns:a="http://schemas.openxmlformats.org/drawingml/2006/main" cx="10763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2ecf90d40641a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6A224-3CD4-4181-8BDB-C34C5BF6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055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rPr>
              <a:t>3개 학습 시드 평균 · 가독성을 위해 20회 간격으로 표시</a:t>
            </a:r>
          </a:p>
        </p:txBody>
      </p:sp>
    </p:spTree>
    <p:extLst>
      <p:ext uri="{BB962C8B-B14F-4D97-AF65-F5344CB8AC3E}">
        <p14:creationId xmlns:p14="http://schemas.microsoft.com/office/powerpoint/2010/main" val="13473833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61A34-1988-46B2-82F2-3A9E7836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rPr>
              <a:t>학습하지 않은 조건에서의 보상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4E87D-3C75-465D-A6B6-99F3A4CD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rPr>
              <a:t>5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714375" y="1428750"/>
          <a:ext xmlns:a="http://schemas.openxmlformats.org/drawingml/2006/main" cx="10763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b4b0e2d07648e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00CE2-52C6-45E3-A07B-8D21909D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055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rPr>
              <a:t>정책당 조건별 100개 에피소드 · 막대는 학습 시드 3개의 평균</a:t>
            </a:r>
          </a:p>
        </p:txBody>
      </p:sp>
    </p:spTree>
    <p:extLst>
      <p:ext uri="{BB962C8B-B14F-4D97-AF65-F5344CB8AC3E}">
        <p14:creationId xmlns:p14="http://schemas.microsoft.com/office/powerpoint/2010/main" val="12658512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A4CD4-6403-4488-88AD-26AF54AE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rPr>
              <a:t>학습 시드 간 변동성과 생존율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6BBA7-4772-4DFB-ADEB-A7D3A99F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rPr>
              <a:t>6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1619250"/>
          <a:ext xmlns:a="http://schemas.openxmlformats.org/drawingml/2006/main" cx="1095375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762250"/>
                <a:gridCol w="3048000"/>
                <a:gridCol w="27622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기준 PPO 보상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무작위화 PPO 보상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생존율 B / DR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nominal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92.3 ± 13.8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91.6 ± 15.4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88% / 76%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slippery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53.5 ± 10.0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76.1 ± 17.8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94% / 100%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heavy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67.4 ± 9.0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58.0 ± 15.7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92% / 89%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strong kicks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92.1 ± 13.3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93.0 ± 17.0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89% / 78%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combined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57.1 ± 6.6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78.6 ± 16.7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95% / 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47440-4662-4480-A4B6-0BB219DF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rPr>
              <a:t>±: 독립 학습 시드 3개의 표준편차</a:t>
            </a:r>
          </a:p>
          <a:p xmlns:a="http://schemas.openxmlformats.org/drawingml/2006/main">
            <a:pPr>
              <a:defRPr sz="195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rPr>
              <a:t>생존율: 16초 동안 낙상 없이 버틴 비율</a:t>
            </a:r>
          </a:p>
        </p:txBody>
      </p:sp>
    </p:spTree>
    <p:extLst>
      <p:ext uri="{BB962C8B-B14F-4D97-AF65-F5344CB8AC3E}">
        <p14:creationId xmlns:p14="http://schemas.microsoft.com/office/powerpoint/2010/main" val="2602967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09EE7-5502-4703-BCDA-45B31CAA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rPr>
              <a:t>복합 변화 조건의 실제 보행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9E244-2A7F-42C6-96A3-C72B8FD4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F172E-8CE7-4DFA-A223-4E60A1EC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rPr>
              <a:t>기준 PPO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C5A3A-518B-4C30-8743-2D8F7D21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858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9D9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009D93"/>
                </a:solidFill>
                <a:latin typeface="Noto Sans CJK KR"/>
                <a:ea typeface="Noto Sans CJK KR"/>
                <a:cs typeface="Noto Sans CJK KR"/>
              </a:rPr>
              <a:t>환경 무작위화 PPO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113a8d8e74c04"/>
          <a:stretch xmlns:a="http://schemas.openxmlformats.org/drawingml/2006/main"/>
        </p:blipFill>
        <p:spPr>
          <a:xfrm xmlns:a="http://schemas.openxmlformats.org/drawingml/2006/main">
            <a:off x="920750" y="1809750"/>
            <a:ext cx="4635500" cy="3476625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2be1de53b4223"/>
          <a:stretch xmlns:a="http://schemas.openxmlformats.org/drawingml/2006/main"/>
        </p:blipFill>
        <p:spPr>
          <a:xfrm xmlns:a="http://schemas.openxmlformats.org/drawingml/2006/main">
            <a:off x="6635750" y="1809750"/>
            <a:ext cx="4635500" cy="3476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1D508-2F40-4696-A87F-DC123C08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245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rPr>
              <a:t>동봉 영상: videos/baseline-combined/rollout.mp4</a:t>
            </a:r>
          </a:p>
          <a:p xmlns:a="http://schemas.openxmlformats.org/drawingml/2006/main">
            <a:pPr>
              <a:defRPr sz="180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rPr>
              <a:t>                 videos/randomized-combined/rollout.mp4</a:t>
            </a:r>
          </a:p>
        </p:txBody>
      </p:sp>
    </p:spTree>
    <p:extLst>
      <p:ext uri="{BB962C8B-B14F-4D97-AF65-F5344CB8AC3E}">
        <p14:creationId xmlns:p14="http://schemas.microsoft.com/office/powerpoint/2010/main" val="13491663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4A6EB-DDDB-42B1-85CF-C5644EA4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225" b="1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rPr>
              <a:t>결론과 한계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0B38F-C691-4FFC-9670-6F0B6A7C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3C0CE-C6CA-49B2-9FA9-DAF9FF2A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9D9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09D93"/>
                </a:solidFill>
                <a:latin typeface="Noto Sans CJK KR"/>
                <a:ea typeface="Noto Sans CJK KR"/>
                <a:cs typeface="Noto Sans CJK KR"/>
              </a:rPr>
              <a:t>미관측 4조건 평균 보상: 67.5 → 76.4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0A902-0EEF-4D4C-9734-DA0F1ACB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rPr>
              <a:t>이번 자체 검증에서는 환경 무작위화 모델의 평균 보상이 더 높았다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6AE91-C982-4EC9-80DF-763D7460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10858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rPr>
              <a:t>미끄러운 바닥·복합 조건은 개선, 무거운 질량은 하락</a:t>
            </a:r>
          </a:p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rPr>
              <a:t>명목·강한 교란 조건의 생존율도 낮아졌다</a:t>
            </a:r>
          </a:p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rPr>
              <a:t>평지의 동역학 변화만 평가했고 개별 요인은 분리하지 않았다</a:t>
            </a:r>
          </a:p>
          <a:p xmlns:a="http://schemas.openxmlformats.org/drawingml/2006/main">
            <a:pPr>
              <a:defRPr sz="2175" b="0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7324D"/>
                </a:solidFill>
                <a:latin typeface="Noto Sans CJK KR"/>
                <a:ea typeface="Noto Sans CJK KR"/>
                <a:cs typeface="Noto Sans CJK KR"/>
              </a:rPr>
              <a:t>조교의 비공개 환경 성능은 아직 알 수 없다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47AD5-3CDC-4839-A3B6-BA5B4478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26779"/>
                </a:solidFill>
                <a:latin typeface="Noto Sans CJK KR"/>
                <a:ea typeface="Noto Sans CJK KR"/>
                <a:cs typeface="Noto Sans CJK KR"/>
              </a:rPr>
              <a:t>재현: protocol.json · batch.py · evaluation/ · runs/*/final.pt</a:t>
            </a:r>
          </a:p>
        </p:txBody>
      </p:sp>
    </p:spTree>
    <p:extLst>
      <p:ext uri="{BB962C8B-B14F-4D97-AF65-F5344CB8AC3E}">
        <p14:creationId xmlns:p14="http://schemas.microsoft.com/office/powerpoint/2010/main" val="1220722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2026-09-30T12:53:22.9900000Z</dcterms:created>
  <dcterms:modified xsi:type="dcterms:W3CDTF">2026-09-30T12:53:22.9900000Z</dcterms:modified>
</coreProperties>
</file>