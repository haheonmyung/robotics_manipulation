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33" r:id="rId1"/>
  </p:sldMasterIdLst>
  <p:notesMasterIdLst>
    <p:notesMasterId r:id="rId10"/>
  </p:notesMasterIdLst>
  <p:sldIdLst>
    <p:sldId id="265" r:id="rId2"/>
    <p:sldId id="266" r:id="rId3"/>
    <p:sldId id="275" r:id="rId4"/>
    <p:sldId id="268" r:id="rId5"/>
    <p:sldId id="269" r:id="rId6"/>
    <p:sldId id="270" r:id="rId7"/>
    <p:sldId id="276" r:id="rId8"/>
    <p:sldId id="272" r:id="rId9"/>
  </p:sldIdLst>
  <p:sldSz cx="11104563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>
          <p15:clr>
            <a:srgbClr val="A4A3A4"/>
          </p15:clr>
        </p15:guide>
        <p15:guide id="2" pos="349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5252"/>
    <a:srgbClr val="18304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0"/>
    <p:restoredTop sz="90453" autoAdjust="0"/>
  </p:normalViewPr>
  <p:slideViewPr>
    <p:cSldViewPr snapToObjects="1">
      <p:cViewPr varScale="1">
        <p:scale>
          <a:sx n="102" d="100"/>
          <a:sy n="102" d="100"/>
        </p:scale>
        <p:origin x="744" y="84"/>
      </p:cViewPr>
      <p:guideLst>
        <p:guide orient="horz" pos="2155"/>
        <p:guide pos="349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1564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: 15초]</a:t>
            </a:r>
          </a:p>
          <a:p>
            <a:endParaRPr dirty="0"/>
          </a:p>
          <a:p>
            <a:r>
              <a:rPr dirty="0" err="1"/>
              <a:t>저희는</a:t>
            </a:r>
            <a:r>
              <a:rPr dirty="0"/>
              <a:t> </a:t>
            </a:r>
            <a:r>
              <a:rPr dirty="0" err="1"/>
              <a:t>평지에서</a:t>
            </a:r>
            <a:r>
              <a:rPr dirty="0"/>
              <a:t> </a:t>
            </a:r>
            <a:r>
              <a:rPr dirty="0" err="1"/>
              <a:t>학습한</a:t>
            </a:r>
            <a:r>
              <a:rPr dirty="0"/>
              <a:t> </a:t>
            </a:r>
            <a:r>
              <a:rPr dirty="0" err="1"/>
              <a:t>Ant가</a:t>
            </a:r>
            <a:r>
              <a:rPr dirty="0"/>
              <a:t> </a:t>
            </a:r>
            <a:r>
              <a:rPr dirty="0" err="1"/>
              <a:t>처음</a:t>
            </a:r>
            <a:r>
              <a:rPr dirty="0"/>
              <a:t> </a:t>
            </a:r>
            <a:r>
              <a:rPr dirty="0" err="1"/>
              <a:t>보는</a:t>
            </a:r>
            <a:r>
              <a:rPr dirty="0"/>
              <a:t> </a:t>
            </a:r>
            <a:r>
              <a:rPr dirty="0" err="1"/>
              <a:t>험지에서도</a:t>
            </a:r>
            <a:r>
              <a:rPr dirty="0"/>
              <a:t> </a:t>
            </a:r>
            <a:r>
              <a:rPr dirty="0" err="1"/>
              <a:t>이동하도록</a:t>
            </a:r>
            <a:r>
              <a:rPr dirty="0"/>
              <a:t> </a:t>
            </a:r>
            <a:r>
              <a:rPr dirty="0" err="1"/>
              <a:t>학습</a:t>
            </a:r>
            <a:r>
              <a:rPr dirty="0"/>
              <a:t> </a:t>
            </a:r>
            <a:r>
              <a:rPr dirty="0" err="1"/>
              <a:t>환경을</a:t>
            </a:r>
            <a:r>
              <a:rPr dirty="0"/>
              <a:t> </a:t>
            </a:r>
            <a:r>
              <a:rPr dirty="0" err="1"/>
              <a:t>구성했습니다</a:t>
            </a:r>
            <a:r>
              <a:rPr dirty="0"/>
              <a:t>. </a:t>
            </a:r>
            <a:r>
              <a:rPr dirty="0" err="1"/>
              <a:t>커리큘럼</a:t>
            </a:r>
            <a:r>
              <a:rPr dirty="0"/>
              <a:t>, </a:t>
            </a:r>
            <a:r>
              <a:rPr dirty="0" err="1"/>
              <a:t>주변</a:t>
            </a:r>
            <a:r>
              <a:rPr dirty="0"/>
              <a:t> </a:t>
            </a:r>
            <a:r>
              <a:rPr dirty="0" err="1"/>
              <a:t>지형</a:t>
            </a:r>
            <a:r>
              <a:rPr dirty="0"/>
              <a:t> </a:t>
            </a:r>
            <a:r>
              <a:rPr dirty="0" err="1"/>
              <a:t>관측</a:t>
            </a:r>
            <a:r>
              <a:rPr dirty="0"/>
              <a:t>, </a:t>
            </a:r>
            <a:r>
              <a:rPr dirty="0" err="1"/>
              <a:t>회복을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보상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순서로</a:t>
            </a:r>
            <a:r>
              <a:rPr dirty="0"/>
              <a:t> </a:t>
            </a:r>
            <a:r>
              <a:rPr dirty="0" err="1"/>
              <a:t>실험했고</a:t>
            </a:r>
            <a:r>
              <a:rPr dirty="0"/>
              <a:t>, </a:t>
            </a:r>
            <a:r>
              <a:rPr dirty="0" err="1"/>
              <a:t>점수</a:t>
            </a:r>
            <a:r>
              <a:rPr dirty="0"/>
              <a:t> </a:t>
            </a:r>
            <a:r>
              <a:rPr dirty="0" err="1"/>
              <a:t>개선과</a:t>
            </a:r>
            <a:r>
              <a:rPr dirty="0"/>
              <a:t> </a:t>
            </a:r>
            <a:r>
              <a:rPr dirty="0" err="1"/>
              <a:t>남아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실패</a:t>
            </a:r>
            <a:r>
              <a:rPr dirty="0"/>
              <a:t> </a:t>
            </a:r>
            <a:r>
              <a:rPr dirty="0" err="1"/>
              <a:t>사례를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설명하겠습니다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근거</a:t>
            </a:r>
            <a:r>
              <a:rPr dirty="0"/>
              <a:t> 및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사항</a:t>
            </a:r>
            <a:r>
              <a:rPr dirty="0"/>
              <a:t>]</a:t>
            </a:r>
          </a:p>
          <a:p>
            <a:r>
              <a:rPr dirty="0" err="1"/>
              <a:t>표지의</a:t>
            </a:r>
            <a:r>
              <a:rPr dirty="0"/>
              <a:t> </a:t>
            </a:r>
            <a:r>
              <a:rPr dirty="0" err="1"/>
              <a:t>조명·발표자는</a:t>
            </a:r>
            <a:r>
              <a:rPr dirty="0"/>
              <a:t> </a:t>
            </a:r>
            <a:r>
              <a:rPr dirty="0" err="1"/>
              <a:t>제출</a:t>
            </a:r>
            <a:r>
              <a:rPr dirty="0"/>
              <a:t> </a:t>
            </a:r>
            <a:r>
              <a:rPr dirty="0" err="1"/>
              <a:t>전에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정보로</a:t>
            </a:r>
            <a:r>
              <a:rPr dirty="0"/>
              <a:t> </a:t>
            </a:r>
            <a:r>
              <a:rPr dirty="0" err="1"/>
              <a:t>수정</a:t>
            </a:r>
            <a:r>
              <a:rPr dirty="0"/>
              <a:t>. </a:t>
            </a:r>
            <a:r>
              <a:rPr dirty="0" err="1"/>
              <a:t>본문</a:t>
            </a:r>
            <a:r>
              <a:rPr dirty="0"/>
              <a:t> 8장 총 300초, </a:t>
            </a:r>
            <a:r>
              <a:rPr dirty="0" err="1"/>
              <a:t>부록</a:t>
            </a:r>
            <a:r>
              <a:rPr dirty="0"/>
              <a:t> 2장은 </a:t>
            </a:r>
            <a:r>
              <a:rPr dirty="0" err="1"/>
              <a:t>질문</a:t>
            </a:r>
            <a:r>
              <a:rPr dirty="0"/>
              <a:t> </a:t>
            </a:r>
            <a:r>
              <a:rPr dirty="0" err="1"/>
              <a:t>대응용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발표 시간</a:t>
            </a:r>
            <a:r>
              <a:rPr lang="en-US" altLang="ko-KR" dirty="0"/>
              <a:t>: 35</a:t>
            </a:r>
            <a:r>
              <a:rPr lang="ko-KR" altLang="en-US" dirty="0"/>
              <a:t>초</a:t>
            </a:r>
            <a:r>
              <a:rPr lang="en-US" altLang="ko-KR" dirty="0"/>
              <a:t>]</a:t>
            </a:r>
          </a:p>
          <a:p>
            <a:endParaRPr lang="en-US" altLang="ko-KR" dirty="0"/>
          </a:p>
          <a:p>
            <a:r>
              <a:rPr lang="ko-KR" altLang="en-US" dirty="0"/>
              <a:t>먼저 평지에서 학습한 기본 정책을 추가 </a:t>
            </a:r>
            <a:r>
              <a:rPr lang="ko-KR" altLang="en-US" dirty="0" err="1"/>
              <a:t>험지</a:t>
            </a:r>
            <a:r>
              <a:rPr lang="ko-KR" altLang="en-US" dirty="0"/>
              <a:t> 학습 없이 다양한 난이도에 올려 보았습니다</a:t>
            </a:r>
            <a:r>
              <a:rPr lang="en-US" altLang="ko-KR" dirty="0"/>
              <a:t>. GUI</a:t>
            </a:r>
            <a:r>
              <a:rPr lang="ko-KR" altLang="en-US" dirty="0"/>
              <a:t>에서는 </a:t>
            </a:r>
            <a:r>
              <a:rPr lang="en-US" altLang="ko-KR" dirty="0"/>
              <a:t>L4</a:t>
            </a:r>
            <a:r>
              <a:rPr lang="ko-KR" altLang="en-US" dirty="0"/>
              <a:t>나 </a:t>
            </a:r>
            <a:r>
              <a:rPr lang="en-US" altLang="ko-KR" dirty="0"/>
              <a:t>L5</a:t>
            </a:r>
            <a:r>
              <a:rPr lang="ko-KR" altLang="en-US" dirty="0"/>
              <a:t>까지 일부 지형에서 이동했지만</a:t>
            </a:r>
            <a:r>
              <a:rPr lang="en-US" altLang="ko-KR" dirty="0"/>
              <a:t>, L6 </a:t>
            </a:r>
            <a:r>
              <a:rPr lang="ko-KR" altLang="en-US" dirty="0"/>
              <a:t>이후에는 걸리거나 넘어지는 모습이 두드러졌습니다</a:t>
            </a:r>
            <a:r>
              <a:rPr lang="en-US" altLang="ko-KR" dirty="0"/>
              <a:t>. </a:t>
            </a:r>
            <a:r>
              <a:rPr lang="ko-KR" altLang="en-US" dirty="0"/>
              <a:t>이것은 정량 실패율을 측정한 결과는 아닙니다</a:t>
            </a:r>
            <a:r>
              <a:rPr lang="en-US" altLang="ko-KR" dirty="0"/>
              <a:t>. </a:t>
            </a:r>
            <a:r>
              <a:rPr lang="ko-KR" altLang="en-US" dirty="0"/>
              <a:t>가장 어려운 </a:t>
            </a:r>
            <a:r>
              <a:rPr lang="en-US" altLang="ko-KR" dirty="0"/>
              <a:t>L10</a:t>
            </a:r>
            <a:r>
              <a:rPr lang="ko-KR" altLang="en-US" dirty="0"/>
              <a:t>에서 바로 학습해도 문제는 남아서</a:t>
            </a:r>
            <a:r>
              <a:rPr lang="en-US" altLang="ko-KR" dirty="0"/>
              <a:t>, </a:t>
            </a:r>
            <a:r>
              <a:rPr lang="ko-KR" altLang="en-US" dirty="0"/>
              <a:t>쉬운 동작부터 배우고 지형을 미리 관측하도록 실험 방향을 바꿨습니다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근거 및 확인 사항</a:t>
            </a:r>
            <a:r>
              <a:rPr lang="en-US" altLang="ko-KR" dirty="0"/>
              <a:t>]</a:t>
            </a:r>
          </a:p>
          <a:p>
            <a:r>
              <a:rPr lang="ko-KR" altLang="en-US" dirty="0"/>
              <a:t>출처</a:t>
            </a:r>
            <a:r>
              <a:rPr lang="en-US" altLang="ko-KR" dirty="0"/>
              <a:t>: </a:t>
            </a:r>
            <a:r>
              <a:rPr lang="ko-KR" altLang="en-US" dirty="0"/>
              <a:t>사용자 실험 관찰</a:t>
            </a:r>
            <a:r>
              <a:rPr lang="en-US" altLang="ko-KR" dirty="0"/>
              <a:t>. </a:t>
            </a:r>
            <a:r>
              <a:rPr lang="ko-KR" altLang="en-US" dirty="0"/>
              <a:t>무작위 초기 정책이 학습 없이 걷는다고 주장하지 않음</a:t>
            </a:r>
            <a:r>
              <a:rPr lang="en-US" altLang="ko-KR" dirty="0"/>
              <a:t>. L10 </a:t>
            </a:r>
            <a:r>
              <a:rPr lang="ko-KR" altLang="en-US" dirty="0"/>
              <a:t>직접 학습의 수치 결과는 미확인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발표 시간</a:t>
            </a:r>
            <a:r>
              <a:rPr lang="en-US" altLang="ko-KR" dirty="0"/>
              <a:t>: 35</a:t>
            </a:r>
            <a:r>
              <a:rPr lang="ko-KR" altLang="en-US" dirty="0"/>
              <a:t>초</a:t>
            </a:r>
            <a:r>
              <a:rPr lang="en-US" altLang="ko-KR" dirty="0"/>
              <a:t>]</a:t>
            </a:r>
          </a:p>
          <a:p>
            <a:endParaRPr lang="en-US" altLang="ko-KR" dirty="0"/>
          </a:p>
          <a:p>
            <a:r>
              <a:rPr lang="ko-KR" altLang="en-US" dirty="0"/>
              <a:t>먼저 평지에서 학습한 기본 정책을 추가 </a:t>
            </a:r>
            <a:r>
              <a:rPr lang="ko-KR" altLang="en-US" dirty="0" err="1"/>
              <a:t>험지</a:t>
            </a:r>
            <a:r>
              <a:rPr lang="ko-KR" altLang="en-US" dirty="0"/>
              <a:t> 학습 없이 다양한 난이도에 올려 보았습니다</a:t>
            </a:r>
            <a:r>
              <a:rPr lang="en-US" altLang="ko-KR" dirty="0"/>
              <a:t>. GUI</a:t>
            </a:r>
            <a:r>
              <a:rPr lang="ko-KR" altLang="en-US" dirty="0"/>
              <a:t>에서는 </a:t>
            </a:r>
            <a:r>
              <a:rPr lang="en-US" altLang="ko-KR" dirty="0"/>
              <a:t>L4</a:t>
            </a:r>
            <a:r>
              <a:rPr lang="ko-KR" altLang="en-US" dirty="0"/>
              <a:t>나 </a:t>
            </a:r>
            <a:r>
              <a:rPr lang="en-US" altLang="ko-KR" dirty="0"/>
              <a:t>L5</a:t>
            </a:r>
            <a:r>
              <a:rPr lang="ko-KR" altLang="en-US" dirty="0"/>
              <a:t>까지 일부 지형에서 이동했지만</a:t>
            </a:r>
            <a:r>
              <a:rPr lang="en-US" altLang="ko-KR" dirty="0"/>
              <a:t>, L6 </a:t>
            </a:r>
            <a:r>
              <a:rPr lang="ko-KR" altLang="en-US" dirty="0"/>
              <a:t>이후에는 걸리거나 넘어지는 모습이 두드러졌습니다</a:t>
            </a:r>
            <a:r>
              <a:rPr lang="en-US" altLang="ko-KR" dirty="0"/>
              <a:t>. </a:t>
            </a:r>
            <a:r>
              <a:rPr lang="ko-KR" altLang="en-US" dirty="0"/>
              <a:t>이것은 정량 실패율을 측정한 결과는 아닙니다</a:t>
            </a:r>
            <a:r>
              <a:rPr lang="en-US" altLang="ko-KR" dirty="0"/>
              <a:t>. </a:t>
            </a:r>
            <a:r>
              <a:rPr lang="ko-KR" altLang="en-US" dirty="0"/>
              <a:t>가장 어려운 </a:t>
            </a:r>
            <a:r>
              <a:rPr lang="en-US" altLang="ko-KR" dirty="0"/>
              <a:t>L10</a:t>
            </a:r>
            <a:r>
              <a:rPr lang="ko-KR" altLang="en-US" dirty="0"/>
              <a:t>에서 바로 학습해도 문제는 남아서</a:t>
            </a:r>
            <a:r>
              <a:rPr lang="en-US" altLang="ko-KR" dirty="0"/>
              <a:t>, </a:t>
            </a:r>
            <a:r>
              <a:rPr lang="ko-KR" altLang="en-US" dirty="0"/>
              <a:t>쉬운 동작부터 배우고 지형을 미리 관측하도록 실험 방향을 바꿨습니다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근거 및 확인 사항</a:t>
            </a:r>
            <a:r>
              <a:rPr lang="en-US" altLang="ko-KR" dirty="0"/>
              <a:t>]</a:t>
            </a:r>
          </a:p>
          <a:p>
            <a:r>
              <a:rPr lang="ko-KR" altLang="en-US" dirty="0"/>
              <a:t>출처</a:t>
            </a:r>
            <a:r>
              <a:rPr lang="en-US" altLang="ko-KR" dirty="0"/>
              <a:t>: </a:t>
            </a:r>
            <a:r>
              <a:rPr lang="ko-KR" altLang="en-US" dirty="0"/>
              <a:t>사용자 실험 관찰</a:t>
            </a:r>
            <a:r>
              <a:rPr lang="en-US" altLang="ko-KR" dirty="0"/>
              <a:t>. </a:t>
            </a:r>
            <a:r>
              <a:rPr lang="ko-KR" altLang="en-US" dirty="0"/>
              <a:t>무작위 초기 정책이 학습 없이 걷는다고 주장하지 않음</a:t>
            </a:r>
            <a:r>
              <a:rPr lang="en-US" altLang="ko-KR" dirty="0"/>
              <a:t>. L10 </a:t>
            </a:r>
            <a:r>
              <a:rPr lang="ko-KR" altLang="en-US" dirty="0"/>
              <a:t>직접 학습의 수치 결과는 미확인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78757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발표 시간</a:t>
            </a:r>
            <a:r>
              <a:rPr lang="en-US" altLang="ko-KR" dirty="0"/>
              <a:t>: 40</a:t>
            </a:r>
            <a:r>
              <a:rPr lang="ko-KR" altLang="en-US" dirty="0"/>
              <a:t>초</a:t>
            </a:r>
            <a:r>
              <a:rPr lang="en-US" altLang="ko-KR" dirty="0"/>
              <a:t>]</a:t>
            </a:r>
          </a:p>
          <a:p>
            <a:endParaRPr lang="en-US" altLang="ko-KR" dirty="0"/>
          </a:p>
          <a:p>
            <a:r>
              <a:rPr lang="ko-KR" altLang="en-US" dirty="0"/>
              <a:t>커리큘럼은 </a:t>
            </a:r>
            <a:r>
              <a:rPr lang="en-US" altLang="ko-KR" dirty="0"/>
              <a:t>L1</a:t>
            </a:r>
            <a:r>
              <a:rPr lang="ko-KR" altLang="en-US" dirty="0"/>
              <a:t>에서 시작합니다</a:t>
            </a:r>
            <a:r>
              <a:rPr lang="en-US" altLang="ko-KR" dirty="0"/>
              <a:t>. </a:t>
            </a:r>
            <a:r>
              <a:rPr lang="ko-KR" altLang="en-US" dirty="0"/>
              <a:t>실제 </a:t>
            </a:r>
            <a:r>
              <a:rPr lang="en-US" altLang="ko-KR" dirty="0"/>
              <a:t>16</a:t>
            </a:r>
            <a:r>
              <a:rPr lang="ko-KR" altLang="en-US" dirty="0"/>
              <a:t>초를 채우고 실패 없이 </a:t>
            </a:r>
            <a:r>
              <a:rPr lang="en-US" altLang="ko-KR" dirty="0"/>
              <a:t>6</a:t>
            </a:r>
            <a:r>
              <a:rPr lang="ko-KR" altLang="en-US" dirty="0"/>
              <a:t>미터 이상 전진하면 한 단계 올립니다</a:t>
            </a:r>
            <a:r>
              <a:rPr lang="en-US" altLang="ko-KR" dirty="0"/>
              <a:t>. </a:t>
            </a:r>
            <a:r>
              <a:rPr lang="ko-KR" altLang="en-US" dirty="0"/>
              <a:t>실패하거나 정체하면서 전진이 </a:t>
            </a:r>
            <a:r>
              <a:rPr lang="en-US" altLang="ko-KR" dirty="0"/>
              <a:t>3.3</a:t>
            </a:r>
            <a:r>
              <a:rPr lang="ko-KR" altLang="en-US" dirty="0"/>
              <a:t>미터 미만이면 내리고</a:t>
            </a:r>
            <a:r>
              <a:rPr lang="en-US" altLang="ko-KR" dirty="0"/>
              <a:t>, </a:t>
            </a:r>
            <a:r>
              <a:rPr lang="ko-KR" altLang="en-US" dirty="0"/>
              <a:t>그 외에는 유지합니다</a:t>
            </a:r>
            <a:r>
              <a:rPr lang="en-US" altLang="ko-KR" dirty="0"/>
              <a:t>. </a:t>
            </a:r>
            <a:r>
              <a:rPr lang="ko-KR" altLang="en-US" dirty="0"/>
              <a:t>계단</a:t>
            </a:r>
            <a:r>
              <a:rPr lang="en-US" altLang="ko-KR" dirty="0"/>
              <a:t>, </a:t>
            </a:r>
            <a:r>
              <a:rPr lang="ko-KR" altLang="en-US" dirty="0" err="1"/>
              <a:t>역계단</a:t>
            </a:r>
            <a:r>
              <a:rPr lang="en-US" altLang="ko-KR" dirty="0"/>
              <a:t>, </a:t>
            </a:r>
            <a:r>
              <a:rPr lang="ko-KR" altLang="en-US" dirty="0"/>
              <a:t>박스</a:t>
            </a:r>
            <a:r>
              <a:rPr lang="en-US" altLang="ko-KR" dirty="0"/>
              <a:t>, </a:t>
            </a:r>
            <a:r>
              <a:rPr lang="ko-KR" altLang="en-US" dirty="0"/>
              <a:t>거친 표면</a:t>
            </a:r>
            <a:r>
              <a:rPr lang="en-US" altLang="ko-KR" dirty="0"/>
              <a:t>, </a:t>
            </a:r>
            <a:r>
              <a:rPr lang="ko-KR" altLang="en-US" dirty="0"/>
              <a:t>경사</a:t>
            </a:r>
            <a:r>
              <a:rPr lang="en-US" altLang="ko-KR" dirty="0"/>
              <a:t>, </a:t>
            </a:r>
            <a:r>
              <a:rPr lang="ko-KR" altLang="en-US" dirty="0"/>
              <a:t>역경사의 여섯 종류를 연결해 연속 보행도 학습했습니다</a:t>
            </a:r>
            <a:r>
              <a:rPr lang="en-US" altLang="ko-KR" dirty="0"/>
              <a:t>. </a:t>
            </a:r>
            <a:r>
              <a:rPr lang="ko-KR" altLang="en-US" dirty="0"/>
              <a:t>여기서 </a:t>
            </a:r>
            <a:r>
              <a:rPr lang="en-US" altLang="ko-KR" dirty="0"/>
              <a:t>16</a:t>
            </a:r>
            <a:r>
              <a:rPr lang="ko-KR" altLang="en-US" dirty="0"/>
              <a:t>초 생존이나 </a:t>
            </a:r>
            <a:r>
              <a:rPr lang="en-US" altLang="ko-KR" dirty="0"/>
              <a:t>6</a:t>
            </a:r>
            <a:r>
              <a:rPr lang="ko-KR" altLang="en-US" dirty="0"/>
              <a:t>미터 진급 조건이 전체 </a:t>
            </a:r>
            <a:r>
              <a:rPr lang="en-US" altLang="ko-KR" dirty="0"/>
              <a:t>48</a:t>
            </a:r>
            <a:r>
              <a:rPr lang="ko-KR" altLang="en-US" dirty="0"/>
              <a:t>미터 완주를 뜻하는 것은 아닙니다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근거 및 확인 사항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continuous_env_cfg.py / continuous_mdp.py / continuous_terrain.py. </a:t>
            </a:r>
            <a:r>
              <a:rPr lang="ko-KR" altLang="en-US" dirty="0"/>
              <a:t>시작 행 </a:t>
            </a:r>
            <a:r>
              <a:rPr lang="en-US" altLang="ko-KR" dirty="0"/>
              <a:t>index=0, 10</a:t>
            </a:r>
            <a:r>
              <a:rPr lang="ko-KR" altLang="en-US" dirty="0"/>
              <a:t>행</a:t>
            </a:r>
            <a:r>
              <a:rPr lang="en-US" altLang="ko-KR" dirty="0"/>
              <a:t>. </a:t>
            </a:r>
            <a:r>
              <a:rPr lang="ko-KR" altLang="en-US" dirty="0"/>
              <a:t>최고 행 통과 시 </a:t>
            </a:r>
            <a:r>
              <a:rPr lang="en-US" altLang="ko-KR" dirty="0" err="1"/>
              <a:t>TerrainImporter</a:t>
            </a:r>
            <a:r>
              <a:rPr lang="ko-KR" altLang="en-US" dirty="0"/>
              <a:t>가 무작위 </a:t>
            </a:r>
            <a:r>
              <a:rPr lang="en-US" altLang="ko-KR" dirty="0"/>
              <a:t>0~9</a:t>
            </a:r>
            <a:r>
              <a:rPr lang="ko-KR" altLang="en-US" dirty="0"/>
              <a:t>행으로 </a:t>
            </a:r>
            <a:r>
              <a:rPr lang="ko-KR" altLang="en-US" dirty="0" err="1"/>
              <a:t>재배정하므로</a:t>
            </a:r>
            <a:r>
              <a:rPr lang="ko-KR" altLang="en-US" dirty="0"/>
              <a:t> 평균 </a:t>
            </a:r>
            <a:r>
              <a:rPr lang="en-US" altLang="ko-KR" dirty="0"/>
              <a:t>level</a:t>
            </a:r>
            <a:r>
              <a:rPr lang="ko-KR" altLang="en-US" dirty="0"/>
              <a:t>만으로 </a:t>
            </a:r>
            <a:r>
              <a:rPr lang="en-US" altLang="ko-KR" dirty="0"/>
              <a:t>L10 </a:t>
            </a:r>
            <a:r>
              <a:rPr lang="ko-KR" altLang="en-US" dirty="0"/>
              <a:t>숙련을 단정하지 않음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발표 시간</a:t>
            </a:r>
            <a:r>
              <a:rPr lang="en-US" altLang="ko-KR" dirty="0"/>
              <a:t>: 40</a:t>
            </a:r>
            <a:r>
              <a:rPr lang="ko-KR" altLang="en-US" dirty="0"/>
              <a:t>초</a:t>
            </a:r>
            <a:r>
              <a:rPr lang="en-US" altLang="ko-KR" dirty="0"/>
              <a:t>]</a:t>
            </a:r>
          </a:p>
          <a:p>
            <a:endParaRPr lang="en-US" altLang="ko-KR" dirty="0"/>
          </a:p>
          <a:p>
            <a:r>
              <a:rPr lang="en-US" altLang="ko-KR" dirty="0" err="1"/>
              <a:t>RayCaster</a:t>
            </a:r>
            <a:r>
              <a:rPr lang="ko-KR" altLang="en-US" dirty="0"/>
              <a:t>는 아래로 레이를 쏴 주변 표면 높이를 얻는 가상 센서입니다</a:t>
            </a:r>
            <a:r>
              <a:rPr lang="en-US" altLang="ko-KR" dirty="0"/>
              <a:t>. </a:t>
            </a:r>
            <a:r>
              <a:rPr lang="ko-KR" altLang="en-US" dirty="0"/>
              <a:t>기존 </a:t>
            </a:r>
            <a:r>
              <a:rPr lang="en-US" altLang="ko-KR" dirty="0"/>
              <a:t>1.6 </a:t>
            </a:r>
            <a:r>
              <a:rPr lang="ko-KR" altLang="en-US" dirty="0"/>
              <a:t>곱하기 </a:t>
            </a:r>
            <a:r>
              <a:rPr lang="en-US" altLang="ko-KR" dirty="0"/>
              <a:t>1.2</a:t>
            </a:r>
            <a:r>
              <a:rPr lang="ko-KR" altLang="en-US" dirty="0"/>
              <a:t>미터의 </a:t>
            </a:r>
            <a:r>
              <a:rPr lang="en-US" altLang="ko-KR" dirty="0"/>
              <a:t>63</a:t>
            </a:r>
            <a:r>
              <a:rPr lang="ko-KR" altLang="en-US" dirty="0"/>
              <a:t>개 높이 입력을</a:t>
            </a:r>
            <a:r>
              <a:rPr lang="en-US" altLang="ko-KR" dirty="0"/>
              <a:t>, </a:t>
            </a:r>
            <a:r>
              <a:rPr lang="ko-KR" altLang="en-US" dirty="0"/>
              <a:t>앞쪽으로 이동한 </a:t>
            </a:r>
            <a:r>
              <a:rPr lang="en-US" altLang="ko-KR" dirty="0"/>
              <a:t>3.2 </a:t>
            </a:r>
            <a:r>
              <a:rPr lang="ko-KR" altLang="en-US" dirty="0"/>
              <a:t>곱하기 </a:t>
            </a:r>
            <a:r>
              <a:rPr lang="en-US" altLang="ko-KR" dirty="0"/>
              <a:t>2</a:t>
            </a:r>
            <a:r>
              <a:rPr lang="ko-KR" altLang="en-US" dirty="0"/>
              <a:t>미터의 </a:t>
            </a:r>
            <a:r>
              <a:rPr lang="en-US" altLang="ko-KR" dirty="0"/>
              <a:t>187</a:t>
            </a:r>
            <a:r>
              <a:rPr lang="ko-KR" altLang="en-US" dirty="0"/>
              <a:t>개 입력으로 넓혔습니다</a:t>
            </a:r>
            <a:r>
              <a:rPr lang="en-US" altLang="ko-KR" dirty="0"/>
              <a:t>. </a:t>
            </a:r>
            <a:r>
              <a:rPr lang="ko-KR" altLang="en-US" dirty="0"/>
              <a:t>기본 관측 </a:t>
            </a:r>
            <a:r>
              <a:rPr lang="en-US" altLang="ko-KR" dirty="0"/>
              <a:t>60</a:t>
            </a:r>
            <a:r>
              <a:rPr lang="ko-KR" altLang="en-US" dirty="0"/>
              <a:t>개와 합해 </a:t>
            </a:r>
            <a:r>
              <a:rPr lang="en-US" altLang="ko-KR" dirty="0"/>
              <a:t>247</a:t>
            </a:r>
            <a:r>
              <a:rPr lang="ko-KR" altLang="en-US" dirty="0"/>
              <a:t>차원으로 </a:t>
            </a:r>
            <a:r>
              <a:rPr lang="en-US" altLang="ko-KR" dirty="0"/>
              <a:t>MLP</a:t>
            </a:r>
            <a:r>
              <a:rPr lang="ko-KR" altLang="en-US" dirty="0"/>
              <a:t>에 입력합니다</a:t>
            </a:r>
            <a:r>
              <a:rPr lang="en-US" altLang="ko-KR" dirty="0"/>
              <a:t>. </a:t>
            </a:r>
            <a:r>
              <a:rPr lang="ko-KR" altLang="en-US" dirty="0"/>
              <a:t>다만 높이 정보를 주는 것과 탈출 동작을 실제로 배우는 것은 다르므로</a:t>
            </a:r>
            <a:r>
              <a:rPr lang="en-US" altLang="ko-KR" dirty="0"/>
              <a:t>, </a:t>
            </a:r>
            <a:r>
              <a:rPr lang="ko-KR" altLang="en-US" dirty="0"/>
              <a:t>박스에서의 회복에는 보상과 종료 조건도 중요했습니다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근거 및 확인 사항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wide_ray_env_cfg.py / hard_env_cfg.py / </a:t>
            </a:r>
            <a:r>
              <a:rPr lang="en-US" altLang="ko-KR" dirty="0" err="1"/>
              <a:t>isaaclab</a:t>
            </a:r>
            <a:r>
              <a:rPr lang="en-US" altLang="ko-KR" dirty="0"/>
              <a:t>/</a:t>
            </a:r>
            <a:r>
              <a:rPr lang="en-US" altLang="ko-KR" dirty="0" err="1"/>
              <a:t>envs</a:t>
            </a:r>
            <a:r>
              <a:rPr lang="en-US" altLang="ko-KR" dirty="0"/>
              <a:t>/</a:t>
            </a:r>
            <a:r>
              <a:rPr lang="en-US" altLang="ko-KR" dirty="0" err="1"/>
              <a:t>mdp</a:t>
            </a:r>
            <a:r>
              <a:rPr lang="en-US" altLang="ko-KR" dirty="0"/>
              <a:t>/observations.py. </a:t>
            </a:r>
            <a:r>
              <a:rPr lang="ko-KR" altLang="en-US" dirty="0"/>
              <a:t>새 관측은 앞 </a:t>
            </a:r>
            <a:r>
              <a:rPr lang="en-US" altLang="ko-KR" dirty="0"/>
              <a:t>+2.2m, </a:t>
            </a:r>
            <a:r>
              <a:rPr lang="ko-KR" altLang="en-US" dirty="0"/>
              <a:t>뒤 −</a:t>
            </a:r>
            <a:r>
              <a:rPr lang="en-US" altLang="ko-KR" dirty="0"/>
              <a:t>1m, </a:t>
            </a:r>
            <a:r>
              <a:rPr lang="ko-KR" altLang="en-US" dirty="0"/>
              <a:t>좌우 </a:t>
            </a:r>
            <a:r>
              <a:rPr lang="en-US" altLang="ko-KR" dirty="0"/>
              <a:t>±1m, 17×11. </a:t>
            </a:r>
            <a:r>
              <a:rPr lang="ko-KR" altLang="en-US" dirty="0"/>
              <a:t>그림은 센서 배치 개념도</a:t>
            </a:r>
            <a:r>
              <a:rPr lang="en-US" altLang="ko-KR" dirty="0"/>
              <a:t>, </a:t>
            </a:r>
            <a:r>
              <a:rPr lang="ko-KR" altLang="en-US" dirty="0"/>
              <a:t>실제 지형 측정 영상 아님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발표 시간</a:t>
            </a:r>
            <a:r>
              <a:rPr lang="en-US" altLang="ko-KR" dirty="0"/>
              <a:t>: 45</a:t>
            </a:r>
            <a:r>
              <a:rPr lang="ko-KR" altLang="en-US" dirty="0"/>
              <a:t>초</a:t>
            </a:r>
            <a:r>
              <a:rPr lang="en-US" altLang="ko-KR" dirty="0"/>
              <a:t>]</a:t>
            </a:r>
          </a:p>
          <a:p>
            <a:endParaRPr lang="en-US" altLang="ko-KR" dirty="0"/>
          </a:p>
          <a:p>
            <a:r>
              <a:rPr lang="ko-KR" altLang="en-US" dirty="0"/>
              <a:t>박스에서 다리만 움직이고 앞으로 가지 못하는 문제를 보고 정체 페널티를 추가했습니다</a:t>
            </a:r>
            <a:r>
              <a:rPr lang="en-US" altLang="ko-KR" dirty="0"/>
              <a:t>. </a:t>
            </a:r>
            <a:r>
              <a:rPr lang="ko-KR" altLang="en-US" dirty="0"/>
              <a:t>최근 </a:t>
            </a:r>
            <a:r>
              <a:rPr lang="en-US" altLang="ko-KR" dirty="0"/>
              <a:t>2</a:t>
            </a:r>
            <a:r>
              <a:rPr lang="ko-KR" altLang="en-US" dirty="0"/>
              <a:t>초 동안 최고 전진 위치가 </a:t>
            </a:r>
            <a:r>
              <a:rPr lang="en-US" altLang="ko-KR" dirty="0"/>
              <a:t>10</a:t>
            </a:r>
            <a:r>
              <a:rPr lang="ko-KR" altLang="en-US" dirty="0"/>
              <a:t>센티미터 미만 늘어나면 마이너스 </a:t>
            </a:r>
            <a:r>
              <a:rPr lang="en-US" altLang="ko-KR" dirty="0"/>
              <a:t>0.5 </a:t>
            </a:r>
            <a:r>
              <a:rPr lang="ko-KR" altLang="en-US" dirty="0"/>
              <a:t>가중치를 적용합니다</a:t>
            </a:r>
            <a:r>
              <a:rPr lang="en-US" altLang="ko-KR" dirty="0"/>
              <a:t>. </a:t>
            </a:r>
            <a:r>
              <a:rPr lang="ko-KR" altLang="en-US" dirty="0"/>
              <a:t>전진 보상도 기존의 부호 있는 속도에서 최고 위치를 새로 갱신한 거리로 바꿨습니다</a:t>
            </a:r>
            <a:r>
              <a:rPr lang="en-US" altLang="ko-KR" dirty="0"/>
              <a:t>. </a:t>
            </a:r>
            <a:r>
              <a:rPr lang="ko-KR" altLang="en-US" dirty="0"/>
              <a:t>그래서 잠깐 후퇴해 발을 빼는 동작에는 즉시 음의 전진 보상을 주지 않고</a:t>
            </a:r>
            <a:r>
              <a:rPr lang="en-US" altLang="ko-KR" dirty="0"/>
              <a:t>, </a:t>
            </a:r>
            <a:r>
              <a:rPr lang="ko-KR" altLang="en-US" dirty="0"/>
              <a:t>같은 위치 왕복에는 중복 보상을 주지 않습니다</a:t>
            </a:r>
            <a:r>
              <a:rPr lang="en-US" altLang="ko-KR" dirty="0"/>
              <a:t>. </a:t>
            </a:r>
            <a:r>
              <a:rPr lang="ko-KR" altLang="en-US" dirty="0"/>
              <a:t>모든 발의 공중 체류와 에너지</a:t>
            </a:r>
            <a:r>
              <a:rPr lang="en-US" altLang="ko-KR" dirty="0"/>
              <a:t>, </a:t>
            </a:r>
            <a:r>
              <a:rPr lang="ko-KR" altLang="en-US" dirty="0"/>
              <a:t>명령 변화 페널티는 유지했고</a:t>
            </a:r>
            <a:r>
              <a:rPr lang="en-US" altLang="ko-KR" dirty="0"/>
              <a:t>, </a:t>
            </a:r>
            <a:r>
              <a:rPr lang="ko-KR" altLang="en-US" dirty="0"/>
              <a:t>과제 평가는 학습 보상 대신 기본 </a:t>
            </a:r>
            <a:r>
              <a:rPr lang="en-US" altLang="ko-KR" dirty="0"/>
              <a:t>Ant </a:t>
            </a:r>
            <a:r>
              <a:rPr lang="ko-KR" altLang="en-US" dirty="0"/>
              <a:t>보상으로 계산했습니다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근거 및 확인 사항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recovery_mdp.py / recovery_env_cfg.py. stuck</a:t>
            </a:r>
            <a:r>
              <a:rPr lang="ko-KR" altLang="en-US" dirty="0"/>
              <a:t>의 첫 </a:t>
            </a:r>
            <a:r>
              <a:rPr lang="en-US" altLang="ko-KR" dirty="0"/>
              <a:t>2</a:t>
            </a:r>
            <a:r>
              <a:rPr lang="ko-KR" altLang="en-US" dirty="0"/>
              <a:t>초</a:t>
            </a:r>
            <a:r>
              <a:rPr lang="en-US" altLang="ko-KR" dirty="0"/>
              <a:t>·</a:t>
            </a:r>
            <a:r>
              <a:rPr lang="ko-KR" altLang="en-US" dirty="0"/>
              <a:t>첫 접촉 전 적용 제외</a:t>
            </a:r>
            <a:r>
              <a:rPr lang="en-US" altLang="ko-KR" dirty="0"/>
              <a:t>. progress</a:t>
            </a:r>
            <a:r>
              <a:rPr lang="ko-KR" altLang="en-US" dirty="0"/>
              <a:t>는 </a:t>
            </a:r>
            <a:r>
              <a:rPr lang="en-US" altLang="ko-KR" dirty="0"/>
              <a:t>dt</a:t>
            </a:r>
            <a:r>
              <a:rPr lang="ko-KR" altLang="en-US" dirty="0"/>
              <a:t>로 나눈 새 거리</a:t>
            </a:r>
            <a:r>
              <a:rPr lang="en-US" altLang="ko-KR" dirty="0"/>
              <a:t>, </a:t>
            </a:r>
            <a:r>
              <a:rPr lang="ko-KR" altLang="en-US" dirty="0"/>
              <a:t>최대 </a:t>
            </a:r>
            <a:r>
              <a:rPr lang="en-US" altLang="ko-KR" dirty="0"/>
              <a:t>1m/s </a:t>
            </a:r>
            <a:r>
              <a:rPr lang="ko-KR" altLang="en-US" dirty="0"/>
              <a:t>상당</a:t>
            </a:r>
            <a:r>
              <a:rPr lang="en-US" altLang="ko-KR" dirty="0"/>
              <a:t>, </a:t>
            </a:r>
            <a:r>
              <a:rPr lang="ko-KR" altLang="en-US" dirty="0"/>
              <a:t>접촉 </a:t>
            </a:r>
            <a:r>
              <a:rPr lang="en-US" altLang="ko-KR" dirty="0"/>
              <a:t>gate. </a:t>
            </a:r>
            <a:r>
              <a:rPr lang="ko-KR" altLang="en-US" dirty="0"/>
              <a:t>공중 최고 위치도 기록해 착지 후 비행 거리 보상 방지</a:t>
            </a:r>
            <a:r>
              <a:rPr lang="en-US" altLang="ko-KR" dirty="0"/>
              <a:t>. </a:t>
            </a:r>
            <a:r>
              <a:rPr lang="en-US" altLang="ko-KR" dirty="0" err="1"/>
              <a:t>entropy_coef</a:t>
            </a:r>
            <a:r>
              <a:rPr lang="en-US" altLang="ko-KR" dirty="0"/>
              <a:t>=0.0. </a:t>
            </a:r>
            <a:r>
              <a:rPr lang="ko-KR" altLang="en-US" dirty="0"/>
              <a:t>모든 보상 </a:t>
            </a:r>
            <a:r>
              <a:rPr lang="en-US" altLang="ko-KR" dirty="0"/>
              <a:t>dt </a:t>
            </a:r>
            <a:r>
              <a:rPr lang="ko-KR" altLang="en-US" dirty="0"/>
              <a:t>곱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493121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발표 시간</a:t>
            </a:r>
            <a:r>
              <a:rPr lang="en-US" altLang="ko-KR" dirty="0"/>
              <a:t>: 40</a:t>
            </a:r>
            <a:r>
              <a:rPr lang="ko-KR" altLang="en-US" dirty="0"/>
              <a:t>초</a:t>
            </a:r>
            <a:r>
              <a:rPr lang="en-US" altLang="ko-KR" dirty="0"/>
              <a:t>]</a:t>
            </a:r>
          </a:p>
          <a:p>
            <a:endParaRPr lang="en-US" altLang="ko-KR" dirty="0"/>
          </a:p>
          <a:p>
            <a:r>
              <a:rPr lang="ko-KR" altLang="en-US" dirty="0"/>
              <a:t>분석에서 중요한 점은 종료 조건입니다</a:t>
            </a:r>
            <a:r>
              <a:rPr lang="en-US" altLang="ko-KR" dirty="0"/>
              <a:t>. </a:t>
            </a:r>
            <a:r>
              <a:rPr lang="ko-KR" altLang="en-US" dirty="0"/>
              <a:t>원래 </a:t>
            </a:r>
            <a:r>
              <a:rPr lang="en-US" altLang="ko-KR" dirty="0"/>
              <a:t>Ant </a:t>
            </a:r>
            <a:r>
              <a:rPr lang="ko-KR" altLang="en-US" dirty="0"/>
              <a:t>예제의 월드 높이 조건을 </a:t>
            </a:r>
            <a:r>
              <a:rPr lang="ko-KR" altLang="en-US" dirty="0" err="1"/>
              <a:t>험지에서는</a:t>
            </a:r>
            <a:r>
              <a:rPr lang="ko-KR" altLang="en-US" dirty="0"/>
              <a:t> 바로 아래 지형과의 높이 차이로 바꿨는데</a:t>
            </a:r>
            <a:r>
              <a:rPr lang="en-US" altLang="ko-KR" dirty="0"/>
              <a:t>, </a:t>
            </a:r>
            <a:r>
              <a:rPr lang="ko-KR" altLang="en-US" dirty="0"/>
              <a:t>이 값이 낮아지면 크게 넘어지지 않아도 즉시 초기화됩니다</a:t>
            </a:r>
            <a:r>
              <a:rPr lang="en-US" altLang="ko-KR" dirty="0"/>
              <a:t>. </a:t>
            </a:r>
            <a:r>
              <a:rPr lang="ko-KR" altLang="en-US" dirty="0"/>
              <a:t>같은 모델에서 높이 종료만 끄자 회복과 탈출이 관찰됐지만</a:t>
            </a:r>
            <a:r>
              <a:rPr lang="en-US" altLang="ko-KR" dirty="0"/>
              <a:t>, </a:t>
            </a:r>
            <a:r>
              <a:rPr lang="ko-KR" altLang="en-US" dirty="0"/>
              <a:t>높이 종료 없이 처음부터 학습한 모델은 박스에서의 정체를 해결하지 못했습니다</a:t>
            </a:r>
            <a:r>
              <a:rPr lang="en-US" altLang="ko-KR" dirty="0"/>
              <a:t>. </a:t>
            </a:r>
            <a:r>
              <a:rPr lang="ko-KR" altLang="en-US" dirty="0"/>
              <a:t>따라서 단순히 조건을 없애는 것이 답이라고 보지는 않습니다</a:t>
            </a:r>
            <a:r>
              <a:rPr lang="en-US" altLang="ko-KR" dirty="0"/>
              <a:t>. </a:t>
            </a:r>
            <a:r>
              <a:rPr lang="ko-KR" altLang="en-US" dirty="0"/>
              <a:t>결론적으로 커리큘럼</a:t>
            </a:r>
            <a:r>
              <a:rPr lang="en-US" altLang="ko-KR" dirty="0"/>
              <a:t>, </a:t>
            </a:r>
            <a:r>
              <a:rPr lang="ko-KR" altLang="en-US" dirty="0"/>
              <a:t>지형 관측</a:t>
            </a:r>
            <a:r>
              <a:rPr lang="en-US" altLang="ko-KR" dirty="0"/>
              <a:t>, </a:t>
            </a:r>
            <a:r>
              <a:rPr lang="ko-KR" altLang="en-US" dirty="0"/>
              <a:t>회복 보상으로 보행을 개선했지만</a:t>
            </a:r>
            <a:r>
              <a:rPr lang="en-US" altLang="ko-KR" dirty="0"/>
              <a:t>, </a:t>
            </a:r>
            <a:r>
              <a:rPr lang="ko-KR" altLang="en-US" dirty="0"/>
              <a:t>실제 몸통 접촉과 전진 거리</a:t>
            </a:r>
            <a:r>
              <a:rPr lang="en-US" altLang="ko-KR" dirty="0"/>
              <a:t>, </a:t>
            </a:r>
            <a:r>
              <a:rPr lang="ko-KR" altLang="en-US" dirty="0" err="1"/>
              <a:t>지형별</a:t>
            </a:r>
            <a:r>
              <a:rPr lang="ko-KR" altLang="en-US" dirty="0"/>
              <a:t> </a:t>
            </a:r>
            <a:r>
              <a:rPr lang="ko-KR" altLang="en-US" dirty="0" err="1"/>
              <a:t>탈출률을</a:t>
            </a:r>
            <a:r>
              <a:rPr lang="ko-KR" altLang="en-US" dirty="0"/>
              <a:t> 같은 조건에서 추가 검증하는 것이 다음 단계입니다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근거 및 확인 사항</a:t>
            </a:r>
            <a:r>
              <a:rPr lang="en-US" altLang="ko-KR" dirty="0"/>
              <a:t>]</a:t>
            </a:r>
          </a:p>
          <a:p>
            <a:r>
              <a:rPr lang="ko-KR" altLang="en-US" dirty="0"/>
              <a:t>정성 결과</a:t>
            </a:r>
            <a:r>
              <a:rPr lang="en-US" altLang="ko-KR" dirty="0"/>
              <a:t>: </a:t>
            </a:r>
            <a:r>
              <a:rPr lang="ko-KR" altLang="en-US" dirty="0"/>
              <a:t>사용자 </a:t>
            </a:r>
            <a:r>
              <a:rPr lang="en-US" altLang="ko-KR" dirty="0"/>
              <a:t>GUI </a:t>
            </a:r>
            <a:r>
              <a:rPr lang="ko-KR" altLang="en-US" dirty="0"/>
              <a:t>관찰</a:t>
            </a:r>
            <a:r>
              <a:rPr lang="en-US" altLang="ko-KR" dirty="0"/>
              <a:t>. </a:t>
            </a:r>
            <a:r>
              <a:rPr lang="ko-KR" altLang="en-US" dirty="0"/>
              <a:t>높이 비활성화 평가의 구체적 새 점수는 미확인으로 수치 주장 없음</a:t>
            </a:r>
            <a:r>
              <a:rPr lang="en-US" altLang="ko-KR" dirty="0"/>
              <a:t>. </a:t>
            </a:r>
            <a:r>
              <a:rPr lang="en-US" altLang="ko-KR" dirty="0" err="1"/>
              <a:t>no_height</a:t>
            </a:r>
            <a:r>
              <a:rPr lang="ko-KR" altLang="en-US" dirty="0"/>
              <a:t> 학습 </a:t>
            </a:r>
            <a:r>
              <a:rPr lang="en-US" altLang="ko-KR" dirty="0"/>
              <a:t>checkpoint2700</a:t>
            </a:r>
            <a:r>
              <a:rPr lang="ko-KR" altLang="en-US" dirty="0"/>
              <a:t>은 </a:t>
            </a:r>
            <a:r>
              <a:rPr lang="en-US" altLang="ko-KR" dirty="0"/>
              <a:t>boxes </a:t>
            </a:r>
            <a:r>
              <a:rPr lang="ko-KR" altLang="en-US" dirty="0"/>
              <a:t>탈출 개선 실패 관찰</a:t>
            </a:r>
            <a:r>
              <a:rPr lang="en-US" altLang="ko-KR" dirty="0"/>
              <a:t>. body dragging</a:t>
            </a:r>
            <a:r>
              <a:rPr lang="ko-KR" altLang="en-US" dirty="0"/>
              <a:t>은 가설이므로 사실로 단정하지 않음</a:t>
            </a:r>
            <a:r>
              <a:rPr lang="en-US" altLang="ko-KR" dirty="0"/>
              <a:t>. </a:t>
            </a:r>
            <a:r>
              <a:rPr lang="ko-KR" altLang="en-US" dirty="0"/>
              <a:t>미공개 조교 평가 지형은 아직 검증하지 않음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2783" y="2130425"/>
            <a:ext cx="9438218" cy="1470025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665567" y="3886200"/>
            <a:ext cx="777265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40A130E-E3B8-4EBE-931F-81B26B8448AA}" type="datetime1">
              <a:rPr lang="ko-KR" altLang="en-US"/>
              <a:pPr lvl="0">
                <a:defRPr/>
              </a:pPr>
              <a:t>2026-10-06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00C6A38-4290-41DD-B95C-4155372FD4A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953836A-82A3-4C8B-9D31-CD724F3673ED}" type="datetime1">
              <a:rPr lang="ko-KR" altLang="en-US"/>
              <a:pPr lvl="0">
                <a:defRPr/>
              </a:pPr>
              <a:t>2026-10-06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D2EBAF6-36D0-4DD8-B695-D4C1B37E35D6}" type="datetime1">
              <a:rPr lang="ko-KR" altLang="en-US"/>
              <a:pPr lvl="0">
                <a:defRPr/>
              </a:pPr>
              <a:t>2026-10-06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77121" y="4406900"/>
            <a:ext cx="943821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77121" y="2906713"/>
            <a:ext cx="943821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0728D28-603B-4EFC-80F8-17E5E9107035}" type="datetime1">
              <a:rPr lang="ko-KR" altLang="en-US"/>
              <a:pPr lvl="0">
                <a:defRPr/>
              </a:pPr>
              <a:t>2026-10-06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2개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55188" y="1600200"/>
            <a:ext cx="490417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644424" y="1600200"/>
            <a:ext cx="490417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27A1F4E-0809-4239-8034-C38E431DAF92}" type="datetime1">
              <a:rPr lang="ko-KR" altLang="en-US"/>
              <a:pPr lvl="0">
                <a:defRPr/>
              </a:pPr>
              <a:t>2026-10-06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E0DA496-7307-4E8B-88DE-CB97B48BAB6F}" type="datetime1">
              <a:rPr lang="ko-KR" altLang="en-US"/>
              <a:pPr lvl="0">
                <a:defRPr/>
              </a:pPr>
              <a:t>2026-10-06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553765" y="1643063"/>
            <a:ext cx="9993407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>
              <a:defRPr/>
            </a:pPr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8721E90-850C-410B-8B89-8394F580CFDA}" type="datetime1">
              <a:rPr lang="ko-KR" altLang="en-US"/>
              <a:pPr lvl="0">
                <a:defRPr/>
              </a:pPr>
              <a:t>2026-10-06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555188" y="1600200"/>
            <a:ext cx="4904171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5644424" y="1600200"/>
            <a:ext cx="4904171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553765" y="3984220"/>
            <a:ext cx="4904171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643000" y="3984220"/>
            <a:ext cx="4904171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2026-10-06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76419" y="4800600"/>
            <a:ext cx="6662272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176419" y="612775"/>
            <a:ext cx="6662272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176419" y="5367338"/>
            <a:ext cx="6662272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2026-10-06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간지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1103786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A348888-F454-4AD2-BA62-3AF29D9807C0}" type="datetime1">
              <a:rPr lang="ko-KR" altLang="en-US"/>
              <a:pPr lvl="0">
                <a:defRPr/>
              </a:pPr>
              <a:t>2026-10-06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5188" y="274638"/>
            <a:ext cx="9993407" cy="1143000"/>
          </a:xfrm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2602429" y="2214563"/>
            <a:ext cx="5898905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>
              <a:defRPr/>
            </a:pPr>
            <a:r>
              <a:rPr lang="ko-KR" altLang="en-US"/>
              <a:t>첫째 목차</a:t>
            </a:r>
          </a:p>
          <a:p>
            <a:pPr lvl="0">
              <a:defRPr/>
            </a:pPr>
            <a:r>
              <a:rPr lang="ko-KR" altLang="en-US"/>
              <a:t>둘째 목차</a:t>
            </a:r>
          </a:p>
          <a:p>
            <a:pPr lvl="0">
              <a:defRPr/>
            </a:pPr>
            <a:r>
              <a:rPr lang="ko-KR" altLang="en-US"/>
              <a:t>셋째 목차</a:t>
            </a:r>
          </a:p>
          <a:p>
            <a:pPr lvl="0">
              <a:defRPr/>
            </a:pPr>
            <a:r>
              <a:rPr lang="ko-KR" altLang="en-US"/>
              <a:t>넷째 목차</a:t>
            </a:r>
          </a:p>
          <a:p>
            <a:pPr lvl="0">
              <a:defRPr/>
            </a:pPr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6FEC12-A4C9-4837-AF94-AD867782C04C}" type="datetime1">
              <a:rPr lang="ko-KR" altLang="en-US"/>
              <a:pPr lvl="0">
                <a:defRPr/>
              </a:pPr>
              <a:t>2026-10-06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050245" y="274638"/>
            <a:ext cx="2498351" cy="5851525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55188" y="274638"/>
            <a:ext cx="7309993" cy="5851525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7F84A3-4F29-4053-ACFD-1BAF2D3F140C}" type="datetime1">
              <a:rPr lang="ko-KR" altLang="en-US"/>
              <a:pPr lvl="0">
                <a:defRPr/>
              </a:pPr>
              <a:t>2026-10-06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한컴오피스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55188" y="274638"/>
            <a:ext cx="9993407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55188" y="1600200"/>
            <a:ext cx="9993407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55188" y="6356350"/>
            <a:ext cx="259088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422D86A-5F52-4165-8473-F1B836277586}" type="datetime1">
              <a:rPr lang="ko-KR" altLang="en-US"/>
              <a:pPr lvl="0">
                <a:defRPr/>
              </a:pPr>
              <a:t>2026-10-06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793793" y="6356350"/>
            <a:ext cx="3516198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957714" y="6356350"/>
            <a:ext cx="259088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</p:sldLayoutIdLst>
  <p:transition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3125" y="9370"/>
            <a:ext cx="11161395" cy="689412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" y="731520"/>
            <a:ext cx="68580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dirty="0" err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</a:t>
            </a:r>
            <a:r>
              <a:rPr sz="15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500" b="1" dirty="0" err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과제</a:t>
            </a:r>
            <a:r>
              <a:rPr sz="15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  |  </a:t>
            </a:r>
            <a:r>
              <a:rPr sz="1500" b="1" dirty="0" err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처음</a:t>
            </a:r>
            <a:r>
              <a:rPr sz="15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500" b="1" dirty="0" err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보는</a:t>
            </a:r>
            <a:r>
              <a:rPr sz="15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500" b="1" dirty="0" err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환경에서</a:t>
            </a:r>
            <a:r>
              <a:rPr sz="15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잘 </a:t>
            </a:r>
            <a:r>
              <a:rPr sz="1500" b="1" dirty="0" err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걷는</a:t>
            </a:r>
            <a:r>
              <a:rPr sz="15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Ant</a:t>
            </a:r>
            <a:r>
              <a:rPr lang="en-US" altLang="ko-KR" sz="15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5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  <a:endParaRPr sz="1500" b="1" dirty="0">
              <a:solidFill>
                <a:srgbClr val="14375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41832" y="1874519"/>
            <a:ext cx="6400800" cy="538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lang="ko-KR" altLang="en-US" sz="3500" b="1" dirty="0" err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로보틱스시뮬레이션</a:t>
            </a:r>
            <a:r>
              <a:rPr lang="en-US" altLang="ko-KR" sz="35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35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과제 </a:t>
            </a:r>
            <a:r>
              <a:rPr lang="en-US" altLang="ko-KR" sz="35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sz="3500" b="1" dirty="0">
              <a:solidFill>
                <a:srgbClr val="14375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20" y="3456432"/>
            <a:ext cx="731520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dirty="0" err="1">
                <a:solidFill>
                  <a:srgbClr val="315F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커리큘럼</a:t>
            </a:r>
            <a:r>
              <a:rPr sz="1700" b="0" dirty="0">
                <a:solidFill>
                  <a:srgbClr val="315F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· </a:t>
            </a:r>
            <a:r>
              <a:rPr sz="1700" b="0" dirty="0" err="1">
                <a:solidFill>
                  <a:srgbClr val="315F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지형</a:t>
            </a:r>
            <a:r>
              <a:rPr sz="1700" b="0" dirty="0">
                <a:solidFill>
                  <a:srgbClr val="315F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700" b="0" dirty="0" err="1">
                <a:solidFill>
                  <a:srgbClr val="315F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관측</a:t>
            </a:r>
            <a:r>
              <a:rPr sz="1700" b="0" dirty="0">
                <a:solidFill>
                  <a:srgbClr val="315F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· </a:t>
            </a:r>
            <a:r>
              <a:rPr sz="1700" b="0" dirty="0" err="1">
                <a:solidFill>
                  <a:srgbClr val="315F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회복을</a:t>
            </a:r>
            <a:r>
              <a:rPr sz="1700" b="0" dirty="0">
                <a:solidFill>
                  <a:srgbClr val="315F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700" b="0" dirty="0" err="1">
                <a:solidFill>
                  <a:srgbClr val="315F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위한</a:t>
            </a:r>
            <a:r>
              <a:rPr sz="1700" b="0" dirty="0">
                <a:solidFill>
                  <a:srgbClr val="315F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700" b="0" dirty="0" err="1">
                <a:solidFill>
                  <a:srgbClr val="315F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보상</a:t>
            </a:r>
            <a:r>
              <a:rPr sz="1700" b="0" dirty="0">
                <a:solidFill>
                  <a:srgbClr val="315F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700" b="0" dirty="0" err="1">
                <a:solidFill>
                  <a:srgbClr val="315F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  <a:endParaRPr sz="1700" b="0" dirty="0">
              <a:solidFill>
                <a:srgbClr val="315F9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0120" y="4069080"/>
            <a:ext cx="73152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dirty="0" err="1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로보틱스시뮬레이션</a:t>
            </a:r>
            <a:r>
              <a:rPr sz="1300" b="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300" b="0" dirty="0" err="1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</a:t>
            </a:r>
            <a:r>
              <a:rPr sz="1300" b="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|  </a:t>
            </a:r>
            <a:r>
              <a:rPr lang="en-US" altLang="ko-KR" sz="1300" b="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300" b="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</a:t>
            </a:r>
            <a:r>
              <a:rPr lang="ko-KR" altLang="en-US" sz="1300" b="0" dirty="0" err="1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하현명</a:t>
            </a:r>
            <a:r>
              <a:rPr lang="ko-KR" altLang="en-US" sz="1300" b="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300" b="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이승준 </a:t>
            </a:r>
            <a:r>
              <a:rPr lang="en-US" altLang="ko-KR" sz="1300" b="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0" dirty="0" err="1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홍제국</a:t>
            </a:r>
            <a:endParaRPr sz="1300" b="0" dirty="0">
              <a:solidFill>
                <a:srgbClr val="62728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19696" y="4965083"/>
            <a:ext cx="196596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2026.10.06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439255" y="392049"/>
            <a:ext cx="45720" cy="588645"/>
          </a:xfrm>
          <a:prstGeom prst="rect">
            <a:avLst/>
          </a:prstGeom>
          <a:solidFill>
            <a:srgbClr val="0F315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noFill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517094"/>
            <a:ext cx="896112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en-US" altLang="ko-KR"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실험 설계</a:t>
            </a:r>
            <a:endParaRPr sz="2200" b="1" dirty="0">
              <a:solidFill>
                <a:srgbClr val="14375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509760" y="384049"/>
            <a:ext cx="105156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dirty="0" err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로보틱스시뮬레이션</a:t>
            </a:r>
            <a:endParaRPr sz="900" b="0" dirty="0">
              <a:solidFill>
                <a:srgbClr val="14375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0612" y="1228772"/>
            <a:ext cx="10058400" cy="8951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lang="ko-KR" altLang="en-US" sz="27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 목표</a:t>
            </a:r>
            <a:endParaRPr lang="en-US" altLang="ko-KR" sz="2700" b="1" dirty="0">
              <a:solidFill>
                <a:srgbClr val="14375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spcAft>
                <a:spcPts val="500"/>
              </a:spcAft>
            </a:pPr>
            <a:r>
              <a:rPr lang="en-US" altLang="ko-KR" sz="27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en-US" altLang="ko-KR" sz="20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20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처음 보는 환경에서 </a:t>
            </a:r>
            <a:r>
              <a:rPr lang="en-US" altLang="ko-KR" sz="20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Ant</a:t>
            </a:r>
            <a:r>
              <a:rPr lang="ko-KR" altLang="en-US" sz="20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전복되지않고 전진 할 수 있는지 확인</a:t>
            </a:r>
            <a:endParaRPr sz="2000" b="1" dirty="0">
              <a:solidFill>
                <a:srgbClr val="14375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86093" y="2255177"/>
            <a:ext cx="3154680" cy="1600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8973" y="2483777"/>
            <a:ext cx="278892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lang="en-US" sz="2000" b="1" dirty="0">
                <a:solidFill>
                  <a:srgbClr val="315F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Lab Rough Terrain</a:t>
            </a:r>
            <a:endParaRPr sz="2000" b="1" dirty="0">
              <a:solidFill>
                <a:srgbClr val="315F9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8692" y="3062183"/>
            <a:ext cx="27889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lang="en-US" sz="1600" dirty="0">
                <a:solidFill>
                  <a:srgbClr val="2637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Lab </a:t>
            </a:r>
            <a:r>
              <a:rPr lang="ko-KR" altLang="en-US" sz="1600" dirty="0">
                <a:solidFill>
                  <a:srgbClr val="2637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비정형 환경 예제</a:t>
            </a:r>
            <a:endParaRPr sz="1600" b="0" dirty="0">
              <a:solidFill>
                <a:srgbClr val="26374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3796952" y="2968227"/>
            <a:ext cx="201168" cy="274320"/>
          </a:xfrm>
          <a:prstGeom prst="rightArrow">
            <a:avLst/>
          </a:prstGeom>
          <a:solidFill>
            <a:srgbClr val="315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060813" y="2255177"/>
            <a:ext cx="3154680" cy="1600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243693" y="2483777"/>
            <a:ext cx="278892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dirty="0">
                <a:solidFill>
                  <a:srgbClr val="287E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L1–L</a:t>
            </a:r>
            <a:r>
              <a:rPr lang="en-US" altLang="ko-KR" sz="2000" b="1" dirty="0">
                <a:solidFill>
                  <a:srgbClr val="287E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sz="2000" b="1" dirty="0">
              <a:solidFill>
                <a:srgbClr val="287E8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263412" y="3062183"/>
            <a:ext cx="278892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lang="ko-KR" altLang="en-US" sz="1600" b="0" dirty="0">
                <a:solidFill>
                  <a:srgbClr val="2637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다양한 지형 난이도에 따라</a:t>
            </a:r>
            <a:br>
              <a:rPr lang="en-US" altLang="ko-KR" sz="1600" b="0" dirty="0">
                <a:solidFill>
                  <a:srgbClr val="2637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600" b="0" dirty="0">
                <a:solidFill>
                  <a:srgbClr val="2637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학습가능</a:t>
            </a:r>
            <a:endParaRPr sz="1600" b="0" dirty="0">
              <a:solidFill>
                <a:srgbClr val="26374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Right Arrow 30"/>
          <p:cNvSpPr/>
          <p:nvPr/>
        </p:nvSpPr>
        <p:spPr>
          <a:xfrm>
            <a:off x="7279501" y="2945949"/>
            <a:ext cx="201168" cy="274320"/>
          </a:xfrm>
          <a:prstGeom prst="rightArrow">
            <a:avLst/>
          </a:prstGeom>
          <a:solidFill>
            <a:srgbClr val="315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535533" y="2255177"/>
            <a:ext cx="3154680" cy="1600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18412" y="2483777"/>
            <a:ext cx="278892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lang="ko-KR" altLang="en-US" sz="2000" b="1" dirty="0">
                <a:solidFill>
                  <a:srgbClr val="B2574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정책 비교</a:t>
            </a:r>
            <a:endParaRPr sz="2000" b="1" dirty="0">
              <a:solidFill>
                <a:srgbClr val="B2574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38131" y="3062183"/>
            <a:ext cx="27889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lang="ko-KR" altLang="en-US" sz="1600" dirty="0">
                <a:solidFill>
                  <a:srgbClr val="2637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정책을 학습해서 성능 비교</a:t>
            </a:r>
            <a:endParaRPr sz="1600" b="0" dirty="0">
              <a:solidFill>
                <a:srgbClr val="26374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38D5839-2393-4A6F-A278-74CF5D5F79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889" y="4361632"/>
            <a:ext cx="3129628" cy="176041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3267910-ADB2-4F3F-A2C3-D56C74F23B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65" y="4266396"/>
            <a:ext cx="3032565" cy="189535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3ADA193-C9B4-4D9A-BF23-3944700EB41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8676" y="4266396"/>
            <a:ext cx="3032565" cy="189535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E59596E2-0CCA-4B49-A93B-A854CC7C1A45}"/>
              </a:ext>
            </a:extLst>
          </p:cNvPr>
          <p:cNvSpPr txBox="1"/>
          <p:nvPr/>
        </p:nvSpPr>
        <p:spPr>
          <a:xfrm>
            <a:off x="3391981" y="6320526"/>
            <a:ext cx="439261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lang="en-US" sz="20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&lt;Isaac</a:t>
            </a:r>
            <a:r>
              <a:rPr lang="ko-KR" altLang="en-US" sz="20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Lab</a:t>
            </a:r>
            <a:r>
              <a:rPr lang="ko-KR" altLang="en-US" sz="20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Rough Terrain Example&gt;</a:t>
            </a:r>
            <a:endParaRPr sz="2000" b="1" dirty="0">
              <a:solidFill>
                <a:srgbClr val="14375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439255" y="392049"/>
            <a:ext cx="45720" cy="588645"/>
          </a:xfrm>
          <a:prstGeom prst="rect">
            <a:avLst/>
          </a:prstGeom>
          <a:solidFill>
            <a:srgbClr val="0F315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noFill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517094"/>
            <a:ext cx="896112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en-US" altLang="ko-KR"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실험 설계</a:t>
            </a:r>
            <a:endParaRPr sz="2200" b="1" dirty="0">
              <a:solidFill>
                <a:srgbClr val="14375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509760" y="384049"/>
            <a:ext cx="105156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dirty="0" err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로보틱스시뮬레이션</a:t>
            </a:r>
            <a:endParaRPr sz="900" b="0" dirty="0">
              <a:solidFill>
                <a:srgbClr val="14375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0612" y="1228772"/>
            <a:ext cx="10058400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ko-KR" altLang="en-US" sz="27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실패 원인에 따라 학습 조건을 단계적으로 개선</a:t>
            </a:r>
            <a:endParaRPr sz="2000" b="1" dirty="0">
              <a:solidFill>
                <a:srgbClr val="14375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Rectangle 30">
            <a:extLst>
              <a:ext uri="{FF2B5EF4-FFF2-40B4-BE49-F238E27FC236}">
                <a16:creationId xmlns:a16="http://schemas.microsoft.com/office/drawing/2014/main" id="{95419526-3303-4624-A76A-0F4A40B67802}"/>
              </a:ext>
            </a:extLst>
          </p:cNvPr>
          <p:cNvSpPr/>
          <p:nvPr/>
        </p:nvSpPr>
        <p:spPr>
          <a:xfrm>
            <a:off x="969537" y="1805393"/>
            <a:ext cx="2742392" cy="2426663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7F07D4-B126-4CBE-8750-DA6DD11BA9D8}"/>
              </a:ext>
            </a:extLst>
          </p:cNvPr>
          <p:cNvSpPr txBox="1"/>
          <p:nvPr/>
        </p:nvSpPr>
        <p:spPr>
          <a:xfrm>
            <a:off x="1151224" y="1935394"/>
            <a:ext cx="2380189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315F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53A0A2E-C9FB-498B-8461-1C0C5DC14792}"/>
              </a:ext>
            </a:extLst>
          </p:cNvPr>
          <p:cNvSpPr txBox="1"/>
          <p:nvPr/>
        </p:nvSpPr>
        <p:spPr>
          <a:xfrm>
            <a:off x="1151224" y="2666914"/>
            <a:ext cx="2380189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Flat → Rough</a:t>
            </a:r>
            <a:endParaRPr sz="2200" b="1" dirty="0">
              <a:solidFill>
                <a:srgbClr val="14375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F8C4F4-A41D-4F2B-B042-93C72287A78B}"/>
              </a:ext>
            </a:extLst>
          </p:cNvPr>
          <p:cNvSpPr txBox="1"/>
          <p:nvPr/>
        </p:nvSpPr>
        <p:spPr>
          <a:xfrm>
            <a:off x="1151224" y="3297850"/>
            <a:ext cx="2380189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ko-KR" altLang="en-US" sz="150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평지 정책의 </a:t>
            </a:r>
            <a:r>
              <a:rPr lang="ko-KR" altLang="en-US" sz="1500" dirty="0" err="1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험지</a:t>
            </a:r>
            <a:r>
              <a:rPr lang="ko-KR" altLang="en-US" sz="150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전이 평가 → 성능 저하</a:t>
            </a:r>
            <a:endParaRPr sz="1500" b="0" dirty="0">
              <a:solidFill>
                <a:srgbClr val="62728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Rectangle 34">
            <a:extLst>
              <a:ext uri="{FF2B5EF4-FFF2-40B4-BE49-F238E27FC236}">
                <a16:creationId xmlns:a16="http://schemas.microsoft.com/office/drawing/2014/main" id="{E6664FDC-FAFC-4539-80B5-EED65ED884D0}"/>
              </a:ext>
            </a:extLst>
          </p:cNvPr>
          <p:cNvSpPr/>
          <p:nvPr/>
        </p:nvSpPr>
        <p:spPr>
          <a:xfrm>
            <a:off x="4182558" y="1780444"/>
            <a:ext cx="2742392" cy="2426663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D5C1C0-4D06-4D11-B0AF-979336DD9142}"/>
              </a:ext>
            </a:extLst>
          </p:cNvPr>
          <p:cNvSpPr txBox="1"/>
          <p:nvPr/>
        </p:nvSpPr>
        <p:spPr>
          <a:xfrm>
            <a:off x="4338005" y="1945038"/>
            <a:ext cx="2380189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315F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6264D5-9066-4844-9A40-F8A1ADD467F7}"/>
              </a:ext>
            </a:extLst>
          </p:cNvPr>
          <p:cNvSpPr txBox="1"/>
          <p:nvPr/>
        </p:nvSpPr>
        <p:spPr>
          <a:xfrm>
            <a:off x="4338005" y="2676558"/>
            <a:ext cx="2380189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Direct Rough</a:t>
            </a:r>
            <a:endParaRPr sz="2200" b="1" dirty="0">
              <a:solidFill>
                <a:srgbClr val="14375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D05D7E1-0DCC-4A42-ACF4-0AD533801D16}"/>
              </a:ext>
            </a:extLst>
          </p:cNvPr>
          <p:cNvSpPr txBox="1"/>
          <p:nvPr/>
        </p:nvSpPr>
        <p:spPr>
          <a:xfrm>
            <a:off x="4338005" y="3307494"/>
            <a:ext cx="2380189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ko-KR" altLang="en-US" sz="150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고난이도 </a:t>
            </a:r>
            <a:r>
              <a:rPr lang="ko-KR" altLang="en-US" sz="1500" dirty="0" err="1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험지</a:t>
            </a:r>
            <a:r>
              <a:rPr lang="ko-KR" altLang="en-US" sz="150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직접 학습 → 실패</a:t>
            </a:r>
            <a:r>
              <a:rPr lang="en-US" altLang="ko-KR" sz="150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50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정체 반복</a:t>
            </a:r>
            <a:endParaRPr sz="1500" b="0" dirty="0">
              <a:solidFill>
                <a:srgbClr val="62728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Rectangle 38">
            <a:extLst>
              <a:ext uri="{FF2B5EF4-FFF2-40B4-BE49-F238E27FC236}">
                <a16:creationId xmlns:a16="http://schemas.microsoft.com/office/drawing/2014/main" id="{742D0849-E2DD-4356-91E0-EDB79F69BEFF}"/>
              </a:ext>
            </a:extLst>
          </p:cNvPr>
          <p:cNvSpPr/>
          <p:nvPr/>
        </p:nvSpPr>
        <p:spPr>
          <a:xfrm>
            <a:off x="7392635" y="1751762"/>
            <a:ext cx="2742392" cy="2426663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7AC811B-68C7-47E5-8D78-03666663291D}"/>
              </a:ext>
            </a:extLst>
          </p:cNvPr>
          <p:cNvSpPr txBox="1"/>
          <p:nvPr/>
        </p:nvSpPr>
        <p:spPr>
          <a:xfrm>
            <a:off x="7548082" y="1916356"/>
            <a:ext cx="2380189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315F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58AD28-D406-4EFE-823B-DA86E6CF9C72}"/>
              </a:ext>
            </a:extLst>
          </p:cNvPr>
          <p:cNvSpPr txBox="1"/>
          <p:nvPr/>
        </p:nvSpPr>
        <p:spPr>
          <a:xfrm>
            <a:off x="7548082" y="2647876"/>
            <a:ext cx="2380189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Curriculum RL</a:t>
            </a:r>
            <a:endParaRPr sz="2200" b="1" dirty="0">
              <a:solidFill>
                <a:srgbClr val="14375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21DB5C0-E394-4BB6-9E29-4F5245DD2125}"/>
              </a:ext>
            </a:extLst>
          </p:cNvPr>
          <p:cNvSpPr txBox="1"/>
          <p:nvPr/>
        </p:nvSpPr>
        <p:spPr>
          <a:xfrm>
            <a:off x="7548082" y="3278812"/>
            <a:ext cx="2380189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ko-KR" altLang="en-US" sz="150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쉬운 지형부터 점진적 학습 → 개선 제한적</a:t>
            </a:r>
            <a:endParaRPr sz="1500" b="0" dirty="0">
              <a:solidFill>
                <a:srgbClr val="62728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Rectangle 42">
            <a:extLst>
              <a:ext uri="{FF2B5EF4-FFF2-40B4-BE49-F238E27FC236}">
                <a16:creationId xmlns:a16="http://schemas.microsoft.com/office/drawing/2014/main" id="{4234C8BD-BBDF-466B-9F27-138797F53516}"/>
              </a:ext>
            </a:extLst>
          </p:cNvPr>
          <p:cNvSpPr/>
          <p:nvPr/>
        </p:nvSpPr>
        <p:spPr>
          <a:xfrm>
            <a:off x="2527861" y="4362057"/>
            <a:ext cx="2742392" cy="2426663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292F291-D07F-4FF4-A9AC-6EEF9E8ACF4F}"/>
              </a:ext>
            </a:extLst>
          </p:cNvPr>
          <p:cNvSpPr txBox="1"/>
          <p:nvPr/>
        </p:nvSpPr>
        <p:spPr>
          <a:xfrm>
            <a:off x="2683308" y="4526651"/>
            <a:ext cx="2380189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315F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AF265C6-5913-4B84-B1B3-09B627FAC094}"/>
              </a:ext>
            </a:extLst>
          </p:cNvPr>
          <p:cNvSpPr txBox="1"/>
          <p:nvPr/>
        </p:nvSpPr>
        <p:spPr>
          <a:xfrm>
            <a:off x="2683308" y="5258171"/>
            <a:ext cx="256646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2200" b="1" dirty="0" err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RayCaster</a:t>
            </a:r>
            <a:endParaRPr sz="2200" b="1" dirty="0">
              <a:solidFill>
                <a:srgbClr val="14375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C1C45D-2E45-4F89-AE16-FC2928673459}"/>
              </a:ext>
            </a:extLst>
          </p:cNvPr>
          <p:cNvSpPr txBox="1"/>
          <p:nvPr/>
        </p:nvSpPr>
        <p:spPr>
          <a:xfrm>
            <a:off x="2671794" y="5884429"/>
            <a:ext cx="2380189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ko-KR" altLang="en-US" sz="150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주변 지형 높이 관측 추가 → 성능 개선</a:t>
            </a:r>
            <a:endParaRPr sz="1500" b="0" dirty="0">
              <a:solidFill>
                <a:srgbClr val="62728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Rectangle 42">
            <a:extLst>
              <a:ext uri="{FF2B5EF4-FFF2-40B4-BE49-F238E27FC236}">
                <a16:creationId xmlns:a16="http://schemas.microsoft.com/office/drawing/2014/main" id="{D526373D-D352-42FE-857C-42CE10C29DE1}"/>
              </a:ext>
            </a:extLst>
          </p:cNvPr>
          <p:cNvSpPr/>
          <p:nvPr/>
        </p:nvSpPr>
        <p:spPr>
          <a:xfrm>
            <a:off x="5768311" y="4365130"/>
            <a:ext cx="2742392" cy="2426663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8E12DC-62B6-456B-ABEC-319D46C44436}"/>
              </a:ext>
            </a:extLst>
          </p:cNvPr>
          <p:cNvSpPr txBox="1"/>
          <p:nvPr/>
        </p:nvSpPr>
        <p:spPr>
          <a:xfrm>
            <a:off x="5923758" y="4529724"/>
            <a:ext cx="2380189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dirty="0">
                <a:solidFill>
                  <a:srgbClr val="315F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en-US" altLang="ko-KR" sz="3000" b="1" dirty="0">
                <a:solidFill>
                  <a:srgbClr val="315F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sz="3000" b="1" dirty="0">
              <a:solidFill>
                <a:srgbClr val="315F9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776853-01E6-47BD-952C-E27A47A0FD11}"/>
              </a:ext>
            </a:extLst>
          </p:cNvPr>
          <p:cNvSpPr txBox="1"/>
          <p:nvPr/>
        </p:nvSpPr>
        <p:spPr>
          <a:xfrm>
            <a:off x="5923758" y="5261244"/>
            <a:ext cx="256646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Reward Shaping</a:t>
            </a:r>
            <a:endParaRPr sz="2200" b="1" dirty="0">
              <a:solidFill>
                <a:srgbClr val="14375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3138D2-542E-41F4-B8F6-052922E1D802}"/>
              </a:ext>
            </a:extLst>
          </p:cNvPr>
          <p:cNvSpPr txBox="1"/>
          <p:nvPr/>
        </p:nvSpPr>
        <p:spPr>
          <a:xfrm>
            <a:off x="5923758" y="5892180"/>
            <a:ext cx="2380189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ko-KR" altLang="en-US" sz="150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정체</a:t>
            </a:r>
            <a:r>
              <a:rPr lang="en-US" altLang="ko-KR" sz="150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50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회복</a:t>
            </a:r>
            <a:r>
              <a:rPr lang="en-US" altLang="ko-KR" sz="150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50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전진을 보상으로 구분 → 실질적 전진 유도</a:t>
            </a:r>
            <a:endParaRPr sz="1500" b="0" dirty="0">
              <a:solidFill>
                <a:srgbClr val="62728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4888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9189720" y="384048"/>
            <a:ext cx="13716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로보틱스시뮬레이션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31552" y="6473952"/>
            <a:ext cx="457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325880"/>
            <a:ext cx="10058400" cy="7412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dirty="0" err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처음부터</a:t>
            </a:r>
            <a:r>
              <a:rPr sz="2000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고난이도를 학습하는</a:t>
            </a:r>
            <a:r>
              <a:rPr sz="2000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2000" dirty="0" err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대신</a:t>
            </a:r>
            <a:r>
              <a:rPr lang="en-US" sz="2000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pPr algn="l">
              <a:spcAft>
                <a:spcPts val="500"/>
              </a:spcAft>
            </a:pPr>
            <a:r>
              <a:rPr lang="ko-KR" altLang="en-US" sz="24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쉬운 환경에서 정책 학습 후 어려운 환경에서 학습</a:t>
            </a:r>
            <a:endParaRPr lang="en-US" sz="2400" b="1" dirty="0">
              <a:solidFill>
                <a:srgbClr val="14375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E54FE2E-D2A1-981B-0692-9C0F43389C8A}"/>
              </a:ext>
            </a:extLst>
          </p:cNvPr>
          <p:cNvGrpSpPr/>
          <p:nvPr/>
        </p:nvGrpSpPr>
        <p:grpSpPr>
          <a:xfrm>
            <a:off x="658368" y="2361588"/>
            <a:ext cx="868680" cy="621792"/>
            <a:chOff x="658368" y="2361588"/>
            <a:chExt cx="868680" cy="621792"/>
          </a:xfrm>
          <a:solidFill>
            <a:schemeClr val="accent1">
              <a:lumMod val="50000"/>
            </a:schemeClr>
          </a:solidFill>
        </p:grpSpPr>
        <p:sp>
          <p:nvSpPr>
            <p:cNvPr id="24" name="Rectangle 23"/>
            <p:cNvSpPr/>
            <p:nvPr/>
          </p:nvSpPr>
          <p:spPr>
            <a:xfrm>
              <a:off x="658368" y="2361588"/>
              <a:ext cx="868680" cy="621792"/>
            </a:xfrm>
            <a:prstGeom prst="rect">
              <a:avLst/>
            </a:prstGeom>
            <a:solidFill>
              <a:srgbClr val="18304B">
                <a:alpha val="30196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58368" y="2535324"/>
              <a:ext cx="868680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spcAft>
                  <a:spcPts val="500"/>
                </a:spcAft>
              </a:pPr>
              <a:r>
                <a:rPr sz="16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L1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179EE8-834E-7191-E9F5-076F5465E8CC}"/>
              </a:ext>
            </a:extLst>
          </p:cNvPr>
          <p:cNvGrpSpPr/>
          <p:nvPr/>
        </p:nvGrpSpPr>
        <p:grpSpPr>
          <a:xfrm>
            <a:off x="1645920" y="2361588"/>
            <a:ext cx="868680" cy="621792"/>
            <a:chOff x="1645920" y="2361588"/>
            <a:chExt cx="868680" cy="621792"/>
          </a:xfrm>
          <a:solidFill>
            <a:schemeClr val="accent1">
              <a:lumMod val="50000"/>
            </a:schemeClr>
          </a:solidFill>
        </p:grpSpPr>
        <p:sp>
          <p:nvSpPr>
            <p:cNvPr id="26" name="Rectangle 25"/>
            <p:cNvSpPr/>
            <p:nvPr/>
          </p:nvSpPr>
          <p:spPr>
            <a:xfrm>
              <a:off x="1645920" y="2361588"/>
              <a:ext cx="868680" cy="621792"/>
            </a:xfrm>
            <a:prstGeom prst="rect">
              <a:avLst/>
            </a:prstGeom>
            <a:solidFill>
              <a:srgbClr val="18304B">
                <a:alpha val="34902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45920" y="2535324"/>
              <a:ext cx="868680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spcAft>
                  <a:spcPts val="500"/>
                </a:spcAft>
              </a:pPr>
              <a:r>
                <a:rPr sz="1600" b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L2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4EAFB6E-3181-30FB-80F6-0C446D8A017C}"/>
              </a:ext>
            </a:extLst>
          </p:cNvPr>
          <p:cNvGrpSpPr/>
          <p:nvPr/>
        </p:nvGrpSpPr>
        <p:grpSpPr>
          <a:xfrm>
            <a:off x="2633472" y="2361588"/>
            <a:ext cx="868680" cy="621792"/>
            <a:chOff x="2633472" y="2361588"/>
            <a:chExt cx="868680" cy="621792"/>
          </a:xfrm>
          <a:solidFill>
            <a:schemeClr val="accent1">
              <a:lumMod val="50000"/>
            </a:schemeClr>
          </a:solidFill>
        </p:grpSpPr>
        <p:sp>
          <p:nvSpPr>
            <p:cNvPr id="28" name="Rectangle 27"/>
            <p:cNvSpPr/>
            <p:nvPr/>
          </p:nvSpPr>
          <p:spPr>
            <a:xfrm>
              <a:off x="2633472" y="2361588"/>
              <a:ext cx="868680" cy="621792"/>
            </a:xfrm>
            <a:prstGeom prst="rect">
              <a:avLst/>
            </a:prstGeom>
            <a:solidFill>
              <a:srgbClr val="18304B">
                <a:alpha val="4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633472" y="2535324"/>
              <a:ext cx="868680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spcAft>
                  <a:spcPts val="500"/>
                </a:spcAft>
              </a:pPr>
              <a:r>
                <a:rPr sz="1600" b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L3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88FFDD6-27DB-5BF0-7E1D-C7BA10E329DD}"/>
              </a:ext>
            </a:extLst>
          </p:cNvPr>
          <p:cNvGrpSpPr/>
          <p:nvPr/>
        </p:nvGrpSpPr>
        <p:grpSpPr>
          <a:xfrm>
            <a:off x="3621024" y="2361588"/>
            <a:ext cx="868680" cy="621792"/>
            <a:chOff x="3621024" y="2361588"/>
            <a:chExt cx="868680" cy="621792"/>
          </a:xfrm>
          <a:solidFill>
            <a:schemeClr val="accent1">
              <a:lumMod val="50000"/>
            </a:schemeClr>
          </a:solidFill>
        </p:grpSpPr>
        <p:sp>
          <p:nvSpPr>
            <p:cNvPr id="30" name="Rectangle 29"/>
            <p:cNvSpPr/>
            <p:nvPr/>
          </p:nvSpPr>
          <p:spPr>
            <a:xfrm>
              <a:off x="3621024" y="2361588"/>
              <a:ext cx="868680" cy="621792"/>
            </a:xfrm>
            <a:prstGeom prst="rect">
              <a:avLst/>
            </a:prstGeom>
            <a:solidFill>
              <a:srgbClr val="18304B">
                <a:alpha val="45098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621024" y="2535324"/>
              <a:ext cx="868680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spcAft>
                  <a:spcPts val="500"/>
                </a:spcAft>
              </a:pPr>
              <a:r>
                <a:rPr sz="1600" b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L4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B3528B8-4A36-E1D5-7A7C-D925AD5F2250}"/>
              </a:ext>
            </a:extLst>
          </p:cNvPr>
          <p:cNvGrpSpPr/>
          <p:nvPr/>
        </p:nvGrpSpPr>
        <p:grpSpPr>
          <a:xfrm>
            <a:off x="4608576" y="2361588"/>
            <a:ext cx="868680" cy="621792"/>
            <a:chOff x="4608576" y="2361588"/>
            <a:chExt cx="868680" cy="621792"/>
          </a:xfrm>
          <a:solidFill>
            <a:schemeClr val="accent1">
              <a:lumMod val="50000"/>
            </a:schemeClr>
          </a:solidFill>
        </p:grpSpPr>
        <p:sp>
          <p:nvSpPr>
            <p:cNvPr id="32" name="Rectangle 31"/>
            <p:cNvSpPr/>
            <p:nvPr/>
          </p:nvSpPr>
          <p:spPr>
            <a:xfrm>
              <a:off x="4608576" y="2361588"/>
              <a:ext cx="868680" cy="621792"/>
            </a:xfrm>
            <a:prstGeom prst="rect">
              <a:avLst/>
            </a:prstGeom>
            <a:solidFill>
              <a:srgbClr val="18304B">
                <a:alpha val="50196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608576" y="2535324"/>
              <a:ext cx="868680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spcAft>
                  <a:spcPts val="500"/>
                </a:spcAft>
              </a:pPr>
              <a:r>
                <a:rPr sz="1600" b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L5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86C76F3-50A8-72A5-F765-8EA03C0E64DE}"/>
              </a:ext>
            </a:extLst>
          </p:cNvPr>
          <p:cNvGrpSpPr/>
          <p:nvPr/>
        </p:nvGrpSpPr>
        <p:grpSpPr>
          <a:xfrm>
            <a:off x="5596128" y="2361588"/>
            <a:ext cx="868680" cy="621792"/>
            <a:chOff x="5596128" y="2361588"/>
            <a:chExt cx="868680" cy="621792"/>
          </a:xfrm>
          <a:solidFill>
            <a:schemeClr val="accent1">
              <a:lumMod val="50000"/>
            </a:schemeClr>
          </a:solidFill>
        </p:grpSpPr>
        <p:sp>
          <p:nvSpPr>
            <p:cNvPr id="34" name="Rectangle 33"/>
            <p:cNvSpPr/>
            <p:nvPr/>
          </p:nvSpPr>
          <p:spPr>
            <a:xfrm>
              <a:off x="5596128" y="2361588"/>
              <a:ext cx="868680" cy="621792"/>
            </a:xfrm>
            <a:prstGeom prst="rect">
              <a:avLst/>
            </a:prstGeom>
            <a:solidFill>
              <a:srgbClr val="18304B">
                <a:alpha val="6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596128" y="2535324"/>
              <a:ext cx="868680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spcAft>
                  <a:spcPts val="500"/>
                </a:spcAft>
              </a:pPr>
              <a:r>
                <a:rPr sz="1600" b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L6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2748C4C-77BF-3C31-9DB5-58F1BC9EBE6F}"/>
              </a:ext>
            </a:extLst>
          </p:cNvPr>
          <p:cNvGrpSpPr/>
          <p:nvPr/>
        </p:nvGrpSpPr>
        <p:grpSpPr>
          <a:xfrm>
            <a:off x="6583680" y="2361588"/>
            <a:ext cx="868680" cy="621792"/>
            <a:chOff x="6583680" y="2361588"/>
            <a:chExt cx="868680" cy="621792"/>
          </a:xfrm>
          <a:solidFill>
            <a:schemeClr val="accent1">
              <a:lumMod val="50000"/>
            </a:schemeClr>
          </a:solidFill>
        </p:grpSpPr>
        <p:sp>
          <p:nvSpPr>
            <p:cNvPr id="36" name="Rectangle 35"/>
            <p:cNvSpPr/>
            <p:nvPr/>
          </p:nvSpPr>
          <p:spPr>
            <a:xfrm>
              <a:off x="6583680" y="2361588"/>
              <a:ext cx="868680" cy="621792"/>
            </a:xfrm>
            <a:prstGeom prst="rect">
              <a:avLst/>
            </a:prstGeom>
            <a:solidFill>
              <a:srgbClr val="18304B">
                <a:alpha val="69804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583680" y="2535324"/>
              <a:ext cx="868680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spcAft>
                  <a:spcPts val="500"/>
                </a:spcAft>
              </a:pPr>
              <a:r>
                <a:rPr sz="1600" b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L7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BB5837A-8507-40BD-A2EB-DB0B3A0E4698}"/>
              </a:ext>
            </a:extLst>
          </p:cNvPr>
          <p:cNvGrpSpPr/>
          <p:nvPr/>
        </p:nvGrpSpPr>
        <p:grpSpPr>
          <a:xfrm>
            <a:off x="7571232" y="2361588"/>
            <a:ext cx="868680" cy="621792"/>
            <a:chOff x="7571232" y="2361588"/>
            <a:chExt cx="868680" cy="621792"/>
          </a:xfrm>
        </p:grpSpPr>
        <p:sp>
          <p:nvSpPr>
            <p:cNvPr id="38" name="Rectangle 37"/>
            <p:cNvSpPr/>
            <p:nvPr/>
          </p:nvSpPr>
          <p:spPr>
            <a:xfrm>
              <a:off x="7571232" y="2361588"/>
              <a:ext cx="868680" cy="621792"/>
            </a:xfrm>
            <a:prstGeom prst="rect">
              <a:avLst/>
            </a:pr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571232" y="2535324"/>
              <a:ext cx="868680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spcAft>
                  <a:spcPts val="500"/>
                </a:spcAft>
              </a:pPr>
              <a:r>
                <a:rPr sz="1600" b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L8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BE1C516-E208-AF7B-C60A-910C27B42F04}"/>
              </a:ext>
            </a:extLst>
          </p:cNvPr>
          <p:cNvGrpSpPr/>
          <p:nvPr/>
        </p:nvGrpSpPr>
        <p:grpSpPr>
          <a:xfrm>
            <a:off x="8558784" y="2361588"/>
            <a:ext cx="868680" cy="621792"/>
            <a:chOff x="8558784" y="2361588"/>
            <a:chExt cx="868680" cy="621792"/>
          </a:xfrm>
        </p:grpSpPr>
        <p:sp>
          <p:nvSpPr>
            <p:cNvPr id="40" name="Rectangle 39"/>
            <p:cNvSpPr/>
            <p:nvPr/>
          </p:nvSpPr>
          <p:spPr>
            <a:xfrm>
              <a:off x="8558784" y="2361588"/>
              <a:ext cx="868680" cy="621792"/>
            </a:xfrm>
            <a:prstGeom prst="rect">
              <a:avLst/>
            </a:prstGeom>
            <a:solidFill>
              <a:srgbClr val="18304B">
                <a:alpha val="89804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558784" y="2535324"/>
              <a:ext cx="868680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spcAft>
                  <a:spcPts val="500"/>
                </a:spcAft>
              </a:pPr>
              <a:r>
                <a:rPr sz="1600" b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L9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6742AC7-80DE-9075-7FBE-BC9D76DDAFE8}"/>
              </a:ext>
            </a:extLst>
          </p:cNvPr>
          <p:cNvGrpSpPr/>
          <p:nvPr/>
        </p:nvGrpSpPr>
        <p:grpSpPr>
          <a:xfrm>
            <a:off x="9546336" y="2361588"/>
            <a:ext cx="868680" cy="621792"/>
            <a:chOff x="9546336" y="2361588"/>
            <a:chExt cx="868680" cy="621792"/>
          </a:xfrm>
        </p:grpSpPr>
        <p:sp>
          <p:nvSpPr>
            <p:cNvPr id="42" name="Rectangle 41"/>
            <p:cNvSpPr/>
            <p:nvPr/>
          </p:nvSpPr>
          <p:spPr>
            <a:xfrm>
              <a:off x="9546336" y="2361588"/>
              <a:ext cx="868680" cy="62179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546336" y="2535324"/>
              <a:ext cx="868680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spcAft>
                  <a:spcPts val="500"/>
                </a:spcAft>
              </a:pPr>
              <a:r>
                <a:rPr sz="1600" b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L10</a:t>
              </a: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658368" y="3506442"/>
            <a:ext cx="9875520" cy="648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lang="ko-KR" altLang="en-US" sz="20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 상승 조건</a:t>
            </a:r>
            <a:endParaRPr lang="en-US" altLang="ko-KR" sz="2000" b="1" dirty="0">
              <a:solidFill>
                <a:srgbClr val="14375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spcAft>
                <a:spcPts val="500"/>
              </a:spcAft>
            </a:pPr>
            <a:r>
              <a:rPr lang="en-US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b="1" dirty="0" err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안전하게</a:t>
            </a:r>
            <a:r>
              <a:rPr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16초 </a:t>
            </a:r>
            <a:r>
              <a:rPr b="1" dirty="0" err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유지</a:t>
            </a:r>
            <a:r>
              <a:rPr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+ </a:t>
            </a:r>
            <a:r>
              <a:rPr lang="en-US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6m </a:t>
            </a:r>
            <a:r>
              <a:rPr lang="ko-KR" altLang="en-US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</a:t>
            </a:r>
            <a:r>
              <a:rPr b="1" dirty="0" err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전진</a:t>
            </a:r>
            <a:r>
              <a:rPr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→ 한 </a:t>
            </a:r>
            <a:r>
              <a:rPr b="1" dirty="0" err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b="1" dirty="0" err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상승</a:t>
            </a:r>
            <a:endParaRPr b="1" dirty="0">
              <a:solidFill>
                <a:srgbClr val="14375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58368" y="5900245"/>
            <a:ext cx="580644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 </a:t>
            </a:r>
            <a:r>
              <a:rPr sz="1400" b="0" dirty="0" err="1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외에는</a:t>
            </a:r>
            <a:r>
              <a:rPr sz="1400" b="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b="0" dirty="0" err="1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유지</a:t>
            </a:r>
            <a:r>
              <a:rPr sz="1400" b="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· </a:t>
            </a:r>
            <a:r>
              <a:rPr sz="1400" b="0" dirty="0" err="1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최상위</a:t>
            </a:r>
            <a:r>
              <a:rPr sz="1400" b="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b="0" dirty="0" err="1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통과</a:t>
            </a:r>
            <a:r>
              <a:rPr sz="1400" b="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시 </a:t>
            </a:r>
            <a:r>
              <a:rPr sz="1400" b="0" dirty="0" err="1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낮은</a:t>
            </a:r>
            <a:r>
              <a:rPr sz="1400" b="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b="0" dirty="0" err="1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레벨에도</a:t>
            </a:r>
            <a:r>
              <a:rPr sz="1400" b="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b="0" dirty="0" err="1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다시</a:t>
            </a:r>
            <a:r>
              <a:rPr sz="1400" b="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b="0" dirty="0" err="1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배정</a:t>
            </a:r>
            <a:endParaRPr sz="1400" b="0" dirty="0">
              <a:solidFill>
                <a:srgbClr val="62728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317592" y="5960069"/>
            <a:ext cx="47453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ko-KR" altLang="en-US" sz="140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학습에 사용한 지형 종류</a:t>
            </a:r>
            <a:endParaRPr sz="1400" dirty="0">
              <a:solidFill>
                <a:srgbClr val="62728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직사각형 17">
            <a:extLst>
              <a:ext uri="{FF2B5EF4-FFF2-40B4-BE49-F238E27FC236}">
                <a16:creationId xmlns:a16="http://schemas.microsoft.com/office/drawing/2014/main" id="{00237A28-92E2-3EFB-2E92-44A6F98741BC}"/>
              </a:ext>
            </a:extLst>
          </p:cNvPr>
          <p:cNvSpPr/>
          <p:nvPr/>
        </p:nvSpPr>
        <p:spPr>
          <a:xfrm>
            <a:off x="439255" y="392049"/>
            <a:ext cx="45720" cy="588645"/>
          </a:xfrm>
          <a:prstGeom prst="rect">
            <a:avLst/>
          </a:prstGeom>
          <a:solidFill>
            <a:srgbClr val="0F315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noFill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4E2567-B1D2-12B8-5E9A-B477EFC277B8}"/>
              </a:ext>
            </a:extLst>
          </p:cNvPr>
          <p:cNvSpPr txBox="1"/>
          <p:nvPr/>
        </p:nvSpPr>
        <p:spPr>
          <a:xfrm>
            <a:off x="548640" y="517094"/>
            <a:ext cx="3635451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en-US"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방법론 </a:t>
            </a:r>
            <a:r>
              <a:rPr lang="ko-KR" altLang="en-US" sz="2000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Variable SemiBold" panose="02000003000000020004" pitchFamily="2" charset="-127"/>
              </a:rPr>
              <a:t>➀</a:t>
            </a:r>
            <a:r>
              <a:rPr lang="ko-KR" altLang="en-US" sz="2200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Variable SemiBold" panose="02000003000000020004" pitchFamily="2" charset="-127"/>
              </a:rPr>
              <a:t> </a:t>
            </a:r>
            <a:r>
              <a:rPr lang="en-US" altLang="ko-KR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Variable SemiBold" panose="02000003000000020004" pitchFamily="2" charset="-127"/>
              </a:rPr>
              <a:t>Curriculum RL</a:t>
            </a:r>
            <a:endParaRPr dirty="0">
              <a:solidFill>
                <a:srgbClr val="1437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Variable SemiBold" panose="020000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4C325A-6D90-2455-2BE2-30DB22EE712B}"/>
              </a:ext>
            </a:extLst>
          </p:cNvPr>
          <p:cNvSpPr txBox="1"/>
          <p:nvPr/>
        </p:nvSpPr>
        <p:spPr>
          <a:xfrm>
            <a:off x="658368" y="4703343"/>
            <a:ext cx="9875520" cy="648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lang="ko-KR" altLang="en-US" sz="20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 </a:t>
            </a:r>
            <a:r>
              <a:rPr lang="ko-KR" altLang="en-US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하락</a:t>
            </a:r>
            <a:r>
              <a:rPr lang="ko-KR" altLang="en-US" sz="20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조건</a:t>
            </a:r>
            <a:endParaRPr lang="en-US" altLang="ko-KR" sz="2000" b="1" dirty="0">
              <a:solidFill>
                <a:srgbClr val="14375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spcAft>
                <a:spcPts val="500"/>
              </a:spcAft>
            </a:pPr>
            <a:r>
              <a:rPr lang="en-US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실패 </a:t>
            </a:r>
            <a:r>
              <a:rPr lang="en-US" altLang="ko-KR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정체 발생 </a:t>
            </a:r>
            <a:r>
              <a:rPr lang="en-US" altLang="ko-KR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or 3.3m</a:t>
            </a:r>
            <a:r>
              <a:rPr lang="ko-KR" altLang="en-US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미만 전진</a:t>
            </a:r>
            <a:r>
              <a:rPr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→ 한 </a:t>
            </a:r>
            <a:r>
              <a:rPr b="1" dirty="0" err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하락</a:t>
            </a:r>
            <a:endParaRPr b="1" dirty="0">
              <a:solidFill>
                <a:srgbClr val="14375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100264E-BCFF-8448-7674-71FADC61B7AB}"/>
              </a:ext>
            </a:extLst>
          </p:cNvPr>
          <p:cNvGrpSpPr/>
          <p:nvPr/>
        </p:nvGrpSpPr>
        <p:grpSpPr>
          <a:xfrm>
            <a:off x="7208924" y="3691410"/>
            <a:ext cx="3094124" cy="2143258"/>
            <a:chOff x="7136501" y="3763163"/>
            <a:chExt cx="3094124" cy="2143258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39DCF77-496A-67EF-EFFB-940DF0C23F34}"/>
                </a:ext>
              </a:extLst>
            </p:cNvPr>
            <p:cNvGrpSpPr/>
            <p:nvPr/>
          </p:nvGrpSpPr>
          <p:grpSpPr>
            <a:xfrm>
              <a:off x="7136501" y="3763163"/>
              <a:ext cx="1481328" cy="621792"/>
              <a:chOff x="667512" y="5089997"/>
              <a:chExt cx="1481328" cy="621792"/>
            </a:xfrm>
          </p:grpSpPr>
          <p:sp>
            <p:nvSpPr>
              <p:cNvPr id="47" name="Rectangle 46"/>
              <p:cNvSpPr/>
              <p:nvPr/>
            </p:nvSpPr>
            <p:spPr>
              <a:xfrm>
                <a:off x="667512" y="5089997"/>
                <a:ext cx="1481328" cy="621792"/>
              </a:xfrm>
              <a:prstGeom prst="rect">
                <a:avLst/>
              </a:prstGeom>
              <a:solidFill>
                <a:srgbClr val="F0F4F8"/>
              </a:solidFill>
              <a:ln w="10160">
                <a:solidFill>
                  <a:srgbClr val="DCE4E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200">
                  <a:solidFill>
                    <a:schemeClr val="tx2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667512" y="5308559"/>
                <a:ext cx="1481328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spcAft>
                    <a:spcPts val="500"/>
                  </a:spcAft>
                </a:pPr>
                <a:r>
                  <a:rPr sz="1200" b="0" dirty="0" err="1">
                    <a:solidFill>
                      <a:schemeClr val="tx2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계단</a:t>
                </a:r>
                <a:endParaRPr sz="1200" b="0" dirty="0">
                  <a:solidFill>
                    <a:schemeClr val="tx2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FAB96EC2-57F7-C73A-A690-0BFDDE67D49C}"/>
                </a:ext>
              </a:extLst>
            </p:cNvPr>
            <p:cNvGrpSpPr/>
            <p:nvPr/>
          </p:nvGrpSpPr>
          <p:grpSpPr>
            <a:xfrm>
              <a:off x="8749297" y="3763163"/>
              <a:ext cx="1481328" cy="621792"/>
              <a:chOff x="2304288" y="5089997"/>
              <a:chExt cx="1481328" cy="621792"/>
            </a:xfrm>
          </p:grpSpPr>
          <p:sp>
            <p:nvSpPr>
              <p:cNvPr id="49" name="Rectangle 48"/>
              <p:cNvSpPr/>
              <p:nvPr/>
            </p:nvSpPr>
            <p:spPr>
              <a:xfrm>
                <a:off x="2304288" y="5089997"/>
                <a:ext cx="1481328" cy="621792"/>
              </a:xfrm>
              <a:prstGeom prst="rect">
                <a:avLst/>
              </a:prstGeom>
              <a:solidFill>
                <a:srgbClr val="F0F4F8"/>
              </a:solidFill>
              <a:ln w="10160">
                <a:solidFill>
                  <a:srgbClr val="DCE4E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200">
                  <a:solidFill>
                    <a:schemeClr val="tx2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2304288" y="5308559"/>
                <a:ext cx="1481328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spcAft>
                    <a:spcPts val="500"/>
                  </a:spcAft>
                </a:pPr>
                <a:r>
                  <a:rPr sz="1200" b="0" dirty="0" err="1">
                    <a:solidFill>
                      <a:schemeClr val="tx2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역계단</a:t>
                </a:r>
                <a:endParaRPr sz="1200" b="0" dirty="0">
                  <a:solidFill>
                    <a:schemeClr val="tx2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EA78E72-52BD-7350-7332-8B9253AAE733}"/>
                </a:ext>
              </a:extLst>
            </p:cNvPr>
            <p:cNvGrpSpPr/>
            <p:nvPr/>
          </p:nvGrpSpPr>
          <p:grpSpPr>
            <a:xfrm>
              <a:off x="7136501" y="5284629"/>
              <a:ext cx="1481328" cy="621792"/>
              <a:chOff x="3941064" y="5089997"/>
              <a:chExt cx="1481328" cy="621792"/>
            </a:xfrm>
          </p:grpSpPr>
          <p:sp>
            <p:nvSpPr>
              <p:cNvPr id="51" name="Rectangle 50"/>
              <p:cNvSpPr/>
              <p:nvPr/>
            </p:nvSpPr>
            <p:spPr>
              <a:xfrm>
                <a:off x="3941064" y="5089997"/>
                <a:ext cx="1481328" cy="621792"/>
              </a:xfrm>
              <a:prstGeom prst="rect">
                <a:avLst/>
              </a:prstGeom>
              <a:solidFill>
                <a:srgbClr val="F0F4F8"/>
              </a:solidFill>
              <a:ln w="10160">
                <a:solidFill>
                  <a:srgbClr val="DCE4E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200">
                  <a:solidFill>
                    <a:schemeClr val="tx2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3941064" y="5308559"/>
                <a:ext cx="1481328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spcAft>
                    <a:spcPts val="500"/>
                  </a:spcAft>
                </a:pPr>
                <a:r>
                  <a:rPr sz="1200" b="0" dirty="0" err="1">
                    <a:solidFill>
                      <a:schemeClr val="tx2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박스</a:t>
                </a:r>
                <a:endParaRPr sz="1200" b="0" dirty="0">
                  <a:solidFill>
                    <a:schemeClr val="tx2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D3EDB9C-FBD9-A7E6-7411-6C0CE17D3BDD}"/>
                </a:ext>
              </a:extLst>
            </p:cNvPr>
            <p:cNvGrpSpPr/>
            <p:nvPr/>
          </p:nvGrpSpPr>
          <p:grpSpPr>
            <a:xfrm>
              <a:off x="8749297" y="5284629"/>
              <a:ext cx="1481328" cy="621792"/>
              <a:chOff x="5577840" y="5089997"/>
              <a:chExt cx="1481328" cy="621792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5577840" y="5089997"/>
                <a:ext cx="1481328" cy="621792"/>
              </a:xfrm>
              <a:prstGeom prst="rect">
                <a:avLst/>
              </a:prstGeom>
              <a:solidFill>
                <a:srgbClr val="F0F4F8"/>
              </a:solidFill>
              <a:ln w="10160">
                <a:solidFill>
                  <a:srgbClr val="DCE4E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200">
                  <a:solidFill>
                    <a:schemeClr val="tx2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5577840" y="5308559"/>
                <a:ext cx="1481328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spcAft>
                    <a:spcPts val="500"/>
                  </a:spcAft>
                </a:pPr>
                <a:r>
                  <a:rPr sz="1200" b="0" dirty="0" err="1">
                    <a:solidFill>
                      <a:schemeClr val="tx2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거친</a:t>
                </a:r>
                <a:r>
                  <a:rPr sz="1200" b="0" dirty="0">
                    <a:solidFill>
                      <a:schemeClr val="tx2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sz="1200" b="0" dirty="0" err="1">
                    <a:solidFill>
                      <a:schemeClr val="tx2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표면</a:t>
                </a:r>
                <a:endParaRPr sz="1200" b="0" dirty="0">
                  <a:solidFill>
                    <a:schemeClr val="tx2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901C5ED-DB55-581D-E587-CFE331EDD695}"/>
                </a:ext>
              </a:extLst>
            </p:cNvPr>
            <p:cNvGrpSpPr/>
            <p:nvPr/>
          </p:nvGrpSpPr>
          <p:grpSpPr>
            <a:xfrm>
              <a:off x="7136501" y="4523896"/>
              <a:ext cx="1481328" cy="621792"/>
              <a:chOff x="7214616" y="5089997"/>
              <a:chExt cx="1481328" cy="621792"/>
            </a:xfrm>
          </p:grpSpPr>
          <p:sp>
            <p:nvSpPr>
              <p:cNvPr id="55" name="Rectangle 54"/>
              <p:cNvSpPr/>
              <p:nvPr/>
            </p:nvSpPr>
            <p:spPr>
              <a:xfrm>
                <a:off x="7214616" y="5089997"/>
                <a:ext cx="1481328" cy="621792"/>
              </a:xfrm>
              <a:prstGeom prst="rect">
                <a:avLst/>
              </a:prstGeom>
              <a:solidFill>
                <a:srgbClr val="F0F4F8"/>
              </a:solidFill>
              <a:ln w="10160">
                <a:solidFill>
                  <a:srgbClr val="DCE4E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200">
                  <a:solidFill>
                    <a:schemeClr val="tx2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7214616" y="5308559"/>
                <a:ext cx="1481328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spcAft>
                    <a:spcPts val="500"/>
                  </a:spcAft>
                </a:pPr>
                <a:r>
                  <a:rPr sz="1200" b="0" dirty="0" err="1">
                    <a:solidFill>
                      <a:schemeClr val="tx2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경사</a:t>
                </a:r>
                <a:endParaRPr sz="1200" b="0" dirty="0">
                  <a:solidFill>
                    <a:schemeClr val="tx2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F945244-B5EC-6984-D746-15103D11279F}"/>
                </a:ext>
              </a:extLst>
            </p:cNvPr>
            <p:cNvGrpSpPr/>
            <p:nvPr/>
          </p:nvGrpSpPr>
          <p:grpSpPr>
            <a:xfrm>
              <a:off x="8749297" y="4523896"/>
              <a:ext cx="1481328" cy="621792"/>
              <a:chOff x="8851392" y="5089997"/>
              <a:chExt cx="1481328" cy="621792"/>
            </a:xfrm>
          </p:grpSpPr>
          <p:sp>
            <p:nvSpPr>
              <p:cNvPr id="57" name="Rectangle 56"/>
              <p:cNvSpPr/>
              <p:nvPr/>
            </p:nvSpPr>
            <p:spPr>
              <a:xfrm>
                <a:off x="8851392" y="5089997"/>
                <a:ext cx="1481328" cy="621792"/>
              </a:xfrm>
              <a:prstGeom prst="rect">
                <a:avLst/>
              </a:prstGeom>
              <a:solidFill>
                <a:srgbClr val="F0F4F8"/>
              </a:solidFill>
              <a:ln w="10160">
                <a:solidFill>
                  <a:srgbClr val="DCE4E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200">
                  <a:solidFill>
                    <a:schemeClr val="tx2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8851392" y="5308559"/>
                <a:ext cx="1481328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spcAft>
                    <a:spcPts val="500"/>
                  </a:spcAft>
                </a:pPr>
                <a:r>
                  <a:rPr sz="1200" b="0" dirty="0" err="1">
                    <a:solidFill>
                      <a:schemeClr val="tx2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역경사</a:t>
                </a:r>
                <a:endParaRPr sz="1200" b="0" dirty="0">
                  <a:solidFill>
                    <a:schemeClr val="tx2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9189720" y="384048"/>
            <a:ext cx="13716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로보틱스시뮬레이션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31552" y="6473952"/>
            <a:ext cx="457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325880"/>
            <a:ext cx="100584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lang="ko-KR" altLang="en-US" sz="26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진행 방향의 지형을 미리 파악하도록 </a:t>
            </a:r>
            <a:r>
              <a:rPr lang="en-US" altLang="ko-KR" sz="26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Ray caster </a:t>
            </a:r>
            <a:r>
              <a:rPr lang="ko-KR" altLang="en-US" sz="26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</a:t>
            </a:r>
            <a:endParaRPr sz="2600" b="1" dirty="0">
              <a:solidFill>
                <a:srgbClr val="14375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4" name="Picture 23" descr="scan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75104"/>
            <a:ext cx="5669280" cy="351886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64224" y="2266655"/>
            <a:ext cx="427939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lang="en-US" sz="28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Observation: </a:t>
            </a:r>
            <a:r>
              <a:rPr sz="28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187개</a:t>
            </a:r>
            <a:r>
              <a:rPr lang="en-US" sz="28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8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</a:t>
            </a:r>
            <a:endParaRPr sz="2800" b="1" dirty="0">
              <a:solidFill>
                <a:srgbClr val="14375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64224" y="3125852"/>
            <a:ext cx="384048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lang="ko-KR" altLang="en-US" sz="2200" b="1" dirty="0">
                <a:solidFill>
                  <a:srgbClr val="315F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관측 범위</a:t>
            </a:r>
            <a:r>
              <a:rPr lang="en-US" altLang="ko-KR" sz="2200" b="1" dirty="0">
                <a:solidFill>
                  <a:srgbClr val="315F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sz="2200" b="1" dirty="0">
                <a:solidFill>
                  <a:srgbClr val="315F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3.2 × 2.0m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778741"/>
            <a:ext cx="3059451" cy="6548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lang="ko-KR" altLang="en-US" sz="1500" b="0" dirty="0">
                <a:solidFill>
                  <a:srgbClr val="2637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범위의 지형을 미리 파악</a:t>
            </a:r>
            <a:r>
              <a:rPr lang="ko-KR" altLang="en-US" sz="1500" dirty="0">
                <a:solidFill>
                  <a:srgbClr val="2637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하여 학습의 </a:t>
            </a:r>
            <a:r>
              <a:rPr lang="en-US" altLang="ko-KR" sz="1500" dirty="0">
                <a:solidFill>
                  <a:srgbClr val="2637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state</a:t>
            </a:r>
            <a:r>
              <a:rPr lang="ko-KR" altLang="en-US" sz="1500" dirty="0">
                <a:solidFill>
                  <a:srgbClr val="2637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반영</a:t>
            </a:r>
            <a:endParaRPr lang="en-US" altLang="ko-KR" sz="1500" b="0" dirty="0">
              <a:solidFill>
                <a:srgbClr val="26374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31520" y="5577840"/>
            <a:ext cx="973836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14400" y="5683552"/>
            <a:ext cx="932688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dirty="0" err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지형</a:t>
            </a:r>
            <a:r>
              <a:rPr sz="1300" b="0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300" b="0" dirty="0" err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관측은</a:t>
            </a:r>
            <a:r>
              <a:rPr sz="1300" b="0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300" b="0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Ant</a:t>
            </a:r>
            <a:r>
              <a:rPr lang="ko-KR" altLang="en-US" sz="1300" b="0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지형 상황</a:t>
            </a:r>
            <a:r>
              <a:rPr sz="1300" b="0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</a:t>
            </a:r>
            <a:r>
              <a:rPr sz="1300" b="0" dirty="0" err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맞는</a:t>
            </a:r>
            <a:r>
              <a:rPr sz="1300" b="0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300" b="0" dirty="0" err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동작을</a:t>
            </a:r>
            <a:r>
              <a:rPr sz="1300" b="0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300" b="0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하도록 정책 </a:t>
            </a:r>
            <a:r>
              <a:rPr sz="1300" b="0" dirty="0" err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endParaRPr sz="1300" b="0" dirty="0">
              <a:solidFill>
                <a:srgbClr val="14375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직사각형 17">
            <a:extLst>
              <a:ext uri="{FF2B5EF4-FFF2-40B4-BE49-F238E27FC236}">
                <a16:creationId xmlns:a16="http://schemas.microsoft.com/office/drawing/2014/main" id="{3CB7490D-B90C-7224-249F-6339EA8E9904}"/>
              </a:ext>
            </a:extLst>
          </p:cNvPr>
          <p:cNvSpPr/>
          <p:nvPr/>
        </p:nvSpPr>
        <p:spPr>
          <a:xfrm>
            <a:off x="439255" y="392049"/>
            <a:ext cx="45720" cy="588645"/>
          </a:xfrm>
          <a:prstGeom prst="rect">
            <a:avLst/>
          </a:prstGeom>
          <a:solidFill>
            <a:srgbClr val="0F315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noFill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22155C-4700-B2F8-3E80-A8D0C4EC296E}"/>
              </a:ext>
            </a:extLst>
          </p:cNvPr>
          <p:cNvSpPr txBox="1"/>
          <p:nvPr/>
        </p:nvSpPr>
        <p:spPr>
          <a:xfrm>
            <a:off x="548640" y="517094"/>
            <a:ext cx="3968496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en-US"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방법론 </a:t>
            </a:r>
            <a:r>
              <a:rPr lang="ko-KR" altLang="en-US" sz="2000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Variable SemiBold" panose="02000003000000020004" pitchFamily="2" charset="-127"/>
              </a:rPr>
              <a:t>➁ </a:t>
            </a:r>
            <a:r>
              <a:rPr lang="en-US" altLang="ko-KR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Variable SemiBold" panose="02000003000000020004" pitchFamily="2" charset="-127"/>
              </a:rPr>
              <a:t>Ray caster </a:t>
            </a:r>
            <a:r>
              <a:rPr lang="ko-KR" altLang="en-US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Variable SemiBold" panose="02000003000000020004" pitchFamily="2" charset="-127"/>
              </a:rPr>
              <a:t>지형 관측</a:t>
            </a:r>
            <a:endParaRPr sz="2200" dirty="0">
              <a:solidFill>
                <a:srgbClr val="1437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Variable SemiBold" panose="02000003000000020004" pitchFamily="2" charset="-127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D598D44-3B9D-7847-706A-A6F8B504C7A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4976201" y="3594454"/>
            <a:ext cx="1333159" cy="511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AA8F1BC-1E0D-A7EE-F302-7623D9056D2C}"/>
              </a:ext>
            </a:extLst>
          </p:cNvPr>
          <p:cNvSpPr txBox="1"/>
          <p:nvPr/>
        </p:nvSpPr>
        <p:spPr>
          <a:xfrm>
            <a:off x="5984341" y="4747935"/>
            <a:ext cx="4887144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lang="en-US" sz="140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Total</a:t>
            </a:r>
            <a:r>
              <a:rPr lang="ko-KR" altLang="en-US" sz="140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observation dimension = 247(</a:t>
            </a:r>
            <a:r>
              <a:rPr lang="ko-KR" altLang="en-US" sz="140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 관측 </a:t>
            </a:r>
            <a:r>
              <a:rPr lang="en-US" altLang="ko-KR" sz="140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60 + </a:t>
            </a:r>
            <a:r>
              <a:rPr lang="ko-KR" altLang="en-US" sz="140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지형 관측 </a:t>
            </a:r>
            <a:r>
              <a:rPr lang="en-US" altLang="ko-KR" sz="1400" dirty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187)</a:t>
            </a:r>
            <a:endParaRPr sz="1400" b="0" dirty="0">
              <a:solidFill>
                <a:srgbClr val="62728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9189720" y="384048"/>
            <a:ext cx="13716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로보틱스시뮬레이션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31552" y="6473952"/>
            <a:ext cx="457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</a:p>
        </p:txBody>
      </p:sp>
      <p:sp>
        <p:nvSpPr>
          <p:cNvPr id="2" name="직사각형 17">
            <a:extLst>
              <a:ext uri="{FF2B5EF4-FFF2-40B4-BE49-F238E27FC236}">
                <a16:creationId xmlns:a16="http://schemas.microsoft.com/office/drawing/2014/main" id="{8A078504-66BF-709E-8B0D-DD02C98546C8}"/>
              </a:ext>
            </a:extLst>
          </p:cNvPr>
          <p:cNvSpPr/>
          <p:nvPr/>
        </p:nvSpPr>
        <p:spPr>
          <a:xfrm>
            <a:off x="439255" y="392049"/>
            <a:ext cx="45720" cy="588645"/>
          </a:xfrm>
          <a:prstGeom prst="rect">
            <a:avLst/>
          </a:prstGeom>
          <a:solidFill>
            <a:srgbClr val="0F315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noFill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6564BF-9A43-DB84-45C2-7F8B26249FC7}"/>
              </a:ext>
            </a:extLst>
          </p:cNvPr>
          <p:cNvSpPr txBox="1"/>
          <p:nvPr/>
        </p:nvSpPr>
        <p:spPr>
          <a:xfrm>
            <a:off x="548640" y="517094"/>
            <a:ext cx="4397829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en-US"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방법론 </a:t>
            </a:r>
            <a:r>
              <a:rPr lang="ko-KR" altLang="en-US" sz="2000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Variable SemiBold" panose="02000003000000020004" pitchFamily="2" charset="-127"/>
              </a:rPr>
              <a:t>➂</a:t>
            </a:r>
            <a:r>
              <a:rPr lang="ko-KR" altLang="en-US" sz="2200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Variable SemiBold" panose="02000003000000020004" pitchFamily="2" charset="-127"/>
              </a:rPr>
              <a:t> </a:t>
            </a:r>
            <a:r>
              <a:rPr lang="en-US" altLang="ko-KR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Variable SemiBold" panose="02000003000000020004" pitchFamily="2" charset="-127"/>
              </a:rPr>
              <a:t>Reward shaping</a:t>
            </a:r>
            <a:endParaRPr dirty="0">
              <a:solidFill>
                <a:srgbClr val="1437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Variable SemiBold" panose="02000003000000020004" pitchFamily="2" charset="-127"/>
            </a:endParaRPr>
          </a:p>
        </p:txBody>
      </p:sp>
      <p:sp>
        <p:nvSpPr>
          <p:cNvPr id="100" name="Reward shaping introduction"/>
          <p:cNvSpPr txBox="1"/>
          <p:nvPr/>
        </p:nvSpPr>
        <p:spPr>
          <a:xfrm>
            <a:off x="548640" y="114300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700" b="0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 </a:t>
            </a:r>
            <a:r>
              <a:rPr lang="ko-KR" sz="1700" b="0" dirty="0" err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Ant</a:t>
            </a:r>
            <a:r>
              <a:rPr lang="ko-KR" sz="1700" b="0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보상에서 접지 </a:t>
            </a:r>
            <a:r>
              <a:rPr lang="ko-KR" sz="1700" b="0" dirty="0" err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전진·정체·보행</a:t>
            </a:r>
            <a:r>
              <a:rPr lang="ko-KR" sz="1700" b="0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안정성을 중심으로 변경</a:t>
            </a:r>
            <a:endParaRPr lang="ko-KR" sz="17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1" name="Reward Shaping Comparison Table"/>
          <p:cNvGraphicFramePr/>
          <p:nvPr>
            <p:extLst>
              <p:ext uri="{D42A27DB-BD31-4B8C-83A1-F6EECF244321}">
                <p14:modId xmlns:p14="http://schemas.microsoft.com/office/powerpoint/2010/main" val="2427035038"/>
              </p:ext>
            </p:extLst>
          </p:nvPr>
        </p:nvGraphicFramePr>
        <p:xfrm>
          <a:off x="548640" y="1572768"/>
          <a:ext cx="10058400" cy="4605528"/>
        </p:xfrm>
        <a:graphic>
          <a:graphicData uri="http://schemas.openxmlformats.org/drawingml/2006/table">
            <a:tbl>
              <a:tblPr/>
              <a:tblGrid>
                <a:gridCol w="1627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35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</a:rPr>
                        <a:t>보상 항목</a:t>
                      </a:r>
                      <a:endParaRPr lang="ko-KR" sz="135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14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35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</a:rPr>
                        <a:t>기본 가중치</a:t>
                      </a:r>
                      <a:endParaRPr lang="ko-KR" sz="135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14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35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</a:rPr>
                        <a:t>최종 가중치</a:t>
                      </a:r>
                      <a:endParaRPr lang="ko-KR" sz="135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1437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35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</a:rPr>
                        <a:t>구성·변경 의도</a:t>
                      </a:r>
                      <a:endParaRPr lang="ko-KR" sz="135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1437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340" b="0" dirty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Forward Progress</a:t>
                      </a:r>
                      <a:endParaRPr lang="ko-KR" sz="1340" dirty="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340" b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+1.0</a:t>
                      </a:r>
                      <a:endParaRPr lang="ko-KR" sz="134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340" b="1">
                          <a:solidFill>
                            <a:srgbClr val="14375F"/>
                          </a:solidFill>
                          <a:latin typeface="Noto Sans CJK KR"/>
                          <a:ea typeface="Noto Sans CJK KR"/>
                        </a:rPr>
                        <a:t>+5.0</a:t>
                      </a:r>
                      <a:endParaRPr lang="ko-KR" sz="134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340" b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발 접촉 중 새 최고 +X 위치 갱신분만 보상.</a:t>
                      </a:r>
                      <a:endParaRPr lang="ko-KR" sz="1340"/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340" b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후퇴·복귀는 전진 보상 0, 속도 상한 1m/s.</a:t>
                      </a:r>
                      <a:endParaRPr lang="ko-KR" sz="134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340" b="0" dirty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Stuck</a:t>
                      </a:r>
                      <a:endParaRPr lang="ko-KR" sz="1340" dirty="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340" b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없음</a:t>
                      </a:r>
                      <a:endParaRPr lang="ko-KR" sz="134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340" b="1">
                          <a:solidFill>
                            <a:srgbClr val="14375F"/>
                          </a:solidFill>
                          <a:latin typeface="Noto Sans CJK KR"/>
                          <a:ea typeface="Noto Sans CJK KR"/>
                        </a:rPr>
                        <a:t>−0.5</a:t>
                      </a:r>
                      <a:endParaRPr lang="ko-KR" sz="134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340" b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착지 이력이 있고, 최근 2초 최고 전진 위치</a:t>
                      </a:r>
                      <a:endParaRPr lang="ko-KR" sz="1340"/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340" b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증가가 10cm 미만이면 벌점.</a:t>
                      </a:r>
                      <a:endParaRPr lang="ko-KR" sz="134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340" b="0" dirty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Prolonged Flight</a:t>
                      </a:r>
                      <a:endParaRPr lang="ko-KR" sz="1340" dirty="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340" b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없음</a:t>
                      </a:r>
                      <a:endParaRPr lang="ko-KR" sz="134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340" b="1">
                          <a:solidFill>
                            <a:srgbClr val="14375F"/>
                          </a:solidFill>
                          <a:latin typeface="Noto Sans CJK KR"/>
                          <a:ea typeface="Noto Sans CJK KR"/>
                        </a:rPr>
                        <a:t>−2.0</a:t>
                      </a:r>
                      <a:endParaRPr lang="ko-KR" sz="134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340" b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모든 발의 연속 미접촉이 0.15초를 넘으면 벌점.</a:t>
                      </a:r>
                      <a:endParaRPr lang="ko-KR" sz="134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340" b="0" dirty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Vertical Velocity</a:t>
                      </a:r>
                      <a:endParaRPr lang="ko-KR" sz="1340" dirty="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340" b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없음</a:t>
                      </a:r>
                      <a:endParaRPr lang="ko-KR" sz="134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340" b="1">
                          <a:solidFill>
                            <a:srgbClr val="14375F"/>
                          </a:solidFill>
                          <a:latin typeface="Noto Sans CJK KR"/>
                          <a:ea typeface="Noto Sans CJK KR"/>
                        </a:rPr>
                        <a:t>−0.2</a:t>
                      </a:r>
                      <a:endParaRPr lang="ko-KR" sz="134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340" b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몸통 수직 속도의 제곱에 벌점: v_z².</a:t>
                      </a:r>
                      <a:endParaRPr lang="ko-KR" sz="134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340" b="0" dirty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Action Rate</a:t>
                      </a:r>
                      <a:endParaRPr lang="ko-KR" sz="1340" dirty="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340" b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없음</a:t>
                      </a:r>
                      <a:endParaRPr lang="ko-KR" sz="134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340" b="1">
                          <a:solidFill>
                            <a:srgbClr val="14375F"/>
                          </a:solidFill>
                          <a:latin typeface="Noto Sans CJK KR"/>
                          <a:ea typeface="Noto Sans CJK KR"/>
                        </a:rPr>
                        <a:t>−0.01</a:t>
                      </a:r>
                      <a:endParaRPr lang="ko-KR" sz="134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340" b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직전 대비 관절 행동 변화의 제곱에 벌점.</a:t>
                      </a:r>
                      <a:endParaRPr lang="ko-KR" sz="134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340" b="0" dirty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Heading Alignment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340" dirty="0"/>
                        <a:t>Alive</a:t>
                      </a:r>
                      <a:endParaRPr lang="ko-KR" sz="1340" dirty="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340" b="0" dirty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각 +0.5</a:t>
                      </a:r>
                      <a:endParaRPr lang="ko-KR" sz="1340" dirty="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340" b="1" dirty="0">
                          <a:solidFill>
                            <a:srgbClr val="14375F"/>
                          </a:solidFill>
                          <a:latin typeface="Noto Sans CJK KR"/>
                          <a:ea typeface="Noto Sans CJK KR"/>
                        </a:rPr>
                        <a:t>각 0</a:t>
                      </a:r>
                      <a:endParaRPr lang="ko-KR" sz="1340" dirty="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340" b="0" dirty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제자리 </a:t>
                      </a:r>
                      <a:r>
                        <a:rPr lang="ko-KR" sz="1340" b="0" dirty="0" err="1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생존·방향</a:t>
                      </a:r>
                      <a:r>
                        <a:rPr lang="ko-KR" sz="1340" b="0" dirty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 정렬만으로 얻는 보상 제거.</a:t>
                      </a:r>
                      <a:endParaRPr lang="ko-KR" sz="1340" dirty="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340" b="0" dirty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Energy Consumption</a:t>
                      </a:r>
                      <a:endParaRPr lang="ko-KR" sz="1340" dirty="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340" b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−0.05</a:t>
                      </a:r>
                      <a:endParaRPr lang="ko-KR" sz="134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340" b="1">
                          <a:solidFill>
                            <a:srgbClr val="14375F"/>
                          </a:solidFill>
                          <a:latin typeface="Noto Sans CJK KR"/>
                          <a:ea typeface="Noto Sans CJK KR"/>
                        </a:rPr>
                        <a:t>−0.01</a:t>
                      </a:r>
                      <a:endParaRPr lang="ko-KR" sz="134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340" b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움직임을 과도하게 억제하지 않도록 벌점 완화.</a:t>
                      </a:r>
                      <a:endParaRPr lang="ko-KR" sz="134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50" b="0" dirty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Upright Posture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50" dirty="0"/>
                        <a:t>Action Magnitude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50" dirty="0"/>
                        <a:t>Joint Limit</a:t>
                      </a:r>
                      <a:endParaRPr lang="ko-KR" sz="1250" dirty="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250" b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+0.1</a:t>
                      </a:r>
                      <a:endParaRPr lang="ko-KR" sz="1250"/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250" b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−0.005</a:t>
                      </a:r>
                      <a:endParaRPr lang="ko-KR" sz="1250"/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250" b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−0.1</a:t>
                      </a:r>
                      <a:endParaRPr lang="ko-KR" sz="125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250" b="1">
                          <a:solidFill>
                            <a:srgbClr val="14375F"/>
                          </a:solidFill>
                          <a:latin typeface="Noto Sans CJK KR"/>
                          <a:ea typeface="Noto Sans CJK KR"/>
                        </a:rPr>
                        <a:t>+0.1</a:t>
                      </a:r>
                      <a:endParaRPr lang="ko-KR" sz="1250"/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250" b="1">
                          <a:solidFill>
                            <a:srgbClr val="14375F"/>
                          </a:solidFill>
                          <a:latin typeface="Noto Sans CJK KR"/>
                          <a:ea typeface="Noto Sans CJK KR"/>
                        </a:rPr>
                        <a:t>−0.005</a:t>
                      </a:r>
                      <a:endParaRPr lang="ko-KR" sz="1250"/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250" b="1">
                          <a:solidFill>
                            <a:srgbClr val="14375F"/>
                          </a:solidFill>
                          <a:latin typeface="Noto Sans CJK KR"/>
                          <a:ea typeface="Noto Sans CJK KR"/>
                        </a:rPr>
                        <a:t>−0.1</a:t>
                      </a:r>
                      <a:endParaRPr lang="ko-KR" sz="125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250" b="0" dirty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자세 +0.1 / 행동 크기 −0.005 /</a:t>
                      </a:r>
                      <a:endParaRPr lang="ko-KR" sz="1250" dirty="0"/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1250" b="0" dirty="0">
                          <a:solidFill>
                            <a:srgbClr val="263746"/>
                          </a:solidFill>
                          <a:latin typeface="Noto Sans CJK KR"/>
                          <a:ea typeface="Noto Sans CJK KR"/>
                        </a:rPr>
                        <a:t>관절 한계 −0.1을 그대로 유지.</a:t>
                      </a:r>
                      <a:endParaRPr lang="ko-KR" sz="1250" dirty="0"/>
                    </a:p>
                  </a:txBody>
                  <a:tcPr marR="73152" marT="36576" marB="36576" anchor="ctr">
                    <a:lnL w="6350">
                      <a:solidFill>
                        <a:srgbClr val="D7E1EB"/>
                      </a:solidFill>
                      <a:prstDash val="solid"/>
                    </a:lnL>
                    <a:lnR w="6350">
                      <a:solidFill>
                        <a:srgbClr val="D7E1EB"/>
                      </a:solidFill>
                      <a:prstDash val="solid"/>
                    </a:lnR>
                    <a:lnT w="6350">
                      <a:solidFill>
                        <a:srgbClr val="D7E1EB"/>
                      </a:solidFill>
                      <a:prstDash val="solid"/>
                    </a:lnT>
                    <a:lnB w="6350">
                      <a:solidFill>
                        <a:srgbClr val="D7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2" name="Original evaluation reward"/>
          <p:cNvSpPr txBox="1"/>
          <p:nvPr/>
        </p:nvSpPr>
        <p:spPr>
          <a:xfrm>
            <a:off x="548640" y="6190488"/>
            <a:ext cx="10058400" cy="292608"/>
          </a:xfrm>
          <a:prstGeom prst="rect">
            <a:avLst/>
          </a:prstGeom>
          <a:solidFill>
            <a:srgbClr val="E8EFF6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35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보상만 변경하고, 성능 평가는 원본 </a:t>
            </a:r>
            <a:r>
              <a:rPr lang="ko-KR" sz="1350" b="1" dirty="0" err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Ant</a:t>
            </a:r>
            <a:r>
              <a:rPr lang="ko-KR" sz="135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보상으로 통일</a:t>
            </a:r>
            <a:endParaRPr lang="ko-KR" sz="13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9189720" y="384048"/>
            <a:ext cx="13716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로보틱스시뮬레이션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31552" y="6473952"/>
            <a:ext cx="457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577840"/>
            <a:ext cx="9213371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오차막대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100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환경의 첫 에피소드 보상 표준편차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직사각형 17">
            <a:extLst>
              <a:ext uri="{FF2B5EF4-FFF2-40B4-BE49-F238E27FC236}">
                <a16:creationId xmlns:a16="http://schemas.microsoft.com/office/drawing/2014/main" id="{3CB7490D-B90C-7224-249F-6339EA8E9904}"/>
              </a:ext>
            </a:extLst>
          </p:cNvPr>
          <p:cNvSpPr/>
          <p:nvPr/>
        </p:nvSpPr>
        <p:spPr>
          <a:xfrm>
            <a:off x="439255" y="392049"/>
            <a:ext cx="45720" cy="588645"/>
          </a:xfrm>
          <a:prstGeom prst="rect">
            <a:avLst/>
          </a:prstGeom>
          <a:solidFill>
            <a:srgbClr val="0F315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noFill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22155C-4700-B2F8-3E80-A8D0C4EC296E}"/>
              </a:ext>
            </a:extLst>
          </p:cNvPr>
          <p:cNvSpPr txBox="1"/>
          <p:nvPr/>
        </p:nvSpPr>
        <p:spPr>
          <a:xfrm>
            <a:off x="548640" y="517094"/>
            <a:ext cx="5815584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en-US"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 </a:t>
            </a:r>
            <a:r>
              <a:rPr lang="ko-KR" altLang="en-US" sz="2000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Variable SemiBold" panose="02000003000000020004" pitchFamily="2" charset="-127"/>
              </a:rPr>
              <a:t>➀ </a:t>
            </a:r>
            <a:r>
              <a:rPr lang="ko-KR" altLang="en-US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Variable SemiBold" panose="02000003000000020004" pitchFamily="2" charset="-127"/>
              </a:rPr>
              <a:t>공통 평가 환경에서의 </a:t>
            </a:r>
            <a:r>
              <a:rPr lang="ko-KR" altLang="en-US" dirty="0" err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Variable SemiBold" panose="02000003000000020004" pitchFamily="2" charset="-127"/>
              </a:rPr>
              <a:t>모델별</a:t>
            </a:r>
            <a:r>
              <a:rPr lang="ko-KR" altLang="en-US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Variable SemiBold" panose="02000003000000020004" pitchFamily="2" charset="-127"/>
              </a:rPr>
              <a:t> 성능</a:t>
            </a:r>
            <a:endParaRPr sz="2200" dirty="0">
              <a:solidFill>
                <a:srgbClr val="1437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Variable SemiBold" panose="02000003000000020004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857DE45-972B-4C77-BE6E-68CE6E6E1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51" y="1196516"/>
            <a:ext cx="10442028" cy="4152724"/>
          </a:xfrm>
          <a:prstGeom prst="rect">
            <a:avLst/>
          </a:prstGeom>
        </p:spPr>
      </p:pic>
      <p:sp>
        <p:nvSpPr>
          <p:cNvPr id="16" name="Rectangle 27">
            <a:extLst>
              <a:ext uri="{FF2B5EF4-FFF2-40B4-BE49-F238E27FC236}">
                <a16:creationId xmlns:a16="http://schemas.microsoft.com/office/drawing/2014/main" id="{AFCA576D-64E1-4392-96A1-6817F5566526}"/>
              </a:ext>
            </a:extLst>
          </p:cNvPr>
          <p:cNvSpPr/>
          <p:nvPr/>
        </p:nvSpPr>
        <p:spPr>
          <a:xfrm>
            <a:off x="716291" y="6201156"/>
            <a:ext cx="922860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전진 거리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 접촉이 있는 시점에 도달한 최대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+X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거리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2713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439255" y="392049"/>
            <a:ext cx="45720" cy="588645"/>
          </a:xfrm>
          <a:prstGeom prst="rect">
            <a:avLst/>
          </a:prstGeom>
          <a:solidFill>
            <a:srgbClr val="0F315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noFill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89720" y="384048"/>
            <a:ext cx="13716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로보틱스시뮬레이션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31552" y="6473952"/>
            <a:ext cx="457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272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</a:p>
        </p:txBody>
      </p:sp>
      <p:sp>
        <p:nvSpPr>
          <p:cNvPr id="100" name="Conclusion headline"/>
          <p:cNvSpPr txBox="1"/>
          <p:nvPr/>
        </p:nvSpPr>
        <p:spPr>
          <a:xfrm>
            <a:off x="548640" y="1152144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2000" b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평지 모델 대비 성능은 개선됐지만, Boxes 탈출은 한계로 남았다</a:t>
            </a:r>
            <a:endParaRPr lang="ko-KR" sz="2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Improvement card"/>
          <p:cNvSpPr txBox="1"/>
          <p:nvPr/>
        </p:nvSpPr>
        <p:spPr>
          <a:xfrm>
            <a:off x="667512" y="1865376"/>
            <a:ext cx="4782312" cy="16916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endParaRPr lang="ko-KR" sz="15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Improvement heading"/>
          <p:cNvSpPr txBox="1"/>
          <p:nvPr/>
        </p:nvSpPr>
        <p:spPr>
          <a:xfrm>
            <a:off x="877824" y="2057400"/>
            <a:ext cx="436168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2000" b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관찰된 개선</a:t>
            </a:r>
            <a:endParaRPr lang="ko-KR" sz="2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Improvement values"/>
          <p:cNvSpPr txBox="1"/>
          <p:nvPr/>
        </p:nvSpPr>
        <p:spPr>
          <a:xfrm>
            <a:off x="877824" y="2560320"/>
            <a:ext cx="4361688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lang="ko-KR" sz="1620" b="0" dirty="0">
                <a:solidFill>
                  <a:srgbClr val="2637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누적 보상 평균  2.87 → 11.25</a:t>
            </a:r>
            <a:endParaRPr lang="ko-KR" sz="162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lang="ko-KR" sz="1620" b="0" dirty="0">
                <a:solidFill>
                  <a:srgbClr val="2637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전진 거리 평균</a:t>
            </a:r>
            <a:endParaRPr lang="ko-KR" sz="162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lang="ko-KR" sz="1620" b="0" dirty="0">
                <a:solidFill>
                  <a:srgbClr val="2637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1.47m → 7.47m</a:t>
            </a:r>
            <a:endParaRPr lang="ko-KR" sz="162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" name="Boxes limitation card"/>
          <p:cNvSpPr txBox="1"/>
          <p:nvPr/>
        </p:nvSpPr>
        <p:spPr>
          <a:xfrm>
            <a:off x="5660136" y="1865376"/>
            <a:ext cx="4782312" cy="16916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endParaRPr lang="ko-KR" sz="15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" name="Boxes heading"/>
          <p:cNvSpPr txBox="1"/>
          <p:nvPr/>
        </p:nvSpPr>
        <p:spPr>
          <a:xfrm>
            <a:off x="5870448" y="2057400"/>
            <a:ext cx="436168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2000" b="1">
                <a:solidFill>
                  <a:srgbClr val="287E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Boxes에서 남은 문제</a:t>
            </a:r>
            <a:endParaRPr lang="ko-KR" sz="2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Boxes observations"/>
          <p:cNvSpPr txBox="1"/>
          <p:nvPr/>
        </p:nvSpPr>
        <p:spPr>
          <a:xfrm>
            <a:off x="5870448" y="2560320"/>
            <a:ext cx="4361688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lang="ko-KR" sz="1520" b="0" dirty="0">
                <a:solidFill>
                  <a:srgbClr val="2637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다리 끼임 → 전진 중단</a:t>
            </a:r>
            <a:endParaRPr lang="ko-KR" sz="152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lang="ko-KR" sz="1520" b="0" dirty="0">
                <a:solidFill>
                  <a:srgbClr val="2637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탈출 시도 후에도 일부 사례는 정체</a:t>
            </a:r>
            <a:endParaRPr lang="ko-KR" sz="152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lang="en-US" altLang="ko-KR" sz="1520" dirty="0">
                <a:solidFill>
                  <a:srgbClr val="2637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Torso height </a:t>
            </a:r>
            <a:r>
              <a:rPr lang="ko-KR" sz="1520" b="0" dirty="0" err="1">
                <a:solidFill>
                  <a:srgbClr val="2637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OFF에서도</a:t>
            </a:r>
            <a:r>
              <a:rPr lang="ko-KR" sz="1520" b="0" dirty="0">
                <a:solidFill>
                  <a:srgbClr val="2637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정체 관찰</a:t>
            </a:r>
            <a:endParaRPr lang="ko-KR" sz="152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8" name="Trial heading"/>
          <p:cNvSpPr txBox="1"/>
          <p:nvPr/>
        </p:nvSpPr>
        <p:spPr>
          <a:xfrm>
            <a:off x="713232" y="3794760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650" b="1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시행착오에서 확인한 점</a:t>
            </a:r>
            <a:endParaRPr lang="ko-KR" sz="165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9" name="Trial findings"/>
          <p:cNvSpPr txBox="1"/>
          <p:nvPr/>
        </p:nvSpPr>
        <p:spPr>
          <a:xfrm>
            <a:off x="713232" y="4215384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lang="ko-KR" sz="1520" b="0" dirty="0">
                <a:solidFill>
                  <a:srgbClr val="2637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en-US" altLang="ko-KR" sz="1520" dirty="0">
                <a:solidFill>
                  <a:srgbClr val="2637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Torso height</a:t>
            </a:r>
            <a:r>
              <a:rPr lang="ko-KR" sz="1520" b="0" dirty="0">
                <a:solidFill>
                  <a:srgbClr val="2637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회복 시도를 끊는 사례 관찰 → ON/OFF 조건을 분리해 평가</a:t>
            </a:r>
            <a:endParaRPr lang="ko-KR" sz="152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lang="ko-KR" sz="1520" b="0" dirty="0">
                <a:solidFill>
                  <a:srgbClr val="2637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정체 벌점만으로 탈출이 보장되지는 않음 → </a:t>
            </a:r>
            <a:r>
              <a:rPr lang="ko-KR" sz="1520" b="0" dirty="0" err="1">
                <a:solidFill>
                  <a:srgbClr val="2637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Boxes</a:t>
            </a:r>
            <a:r>
              <a:rPr lang="ko-KR" sz="1520" b="0" dirty="0">
                <a:solidFill>
                  <a:srgbClr val="2637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회복 행동 학습 보강</a:t>
            </a:r>
            <a:endParaRPr lang="ko-KR" sz="152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Future work"/>
          <p:cNvSpPr txBox="1"/>
          <p:nvPr/>
        </p:nvSpPr>
        <p:spPr>
          <a:xfrm>
            <a:off x="713232" y="5056632"/>
            <a:ext cx="969264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450" b="1" dirty="0">
                <a:solidFill>
                  <a:srgbClr val="287E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후속 과제 </a:t>
            </a:r>
            <a:r>
              <a:rPr lang="en-US" altLang="ko-KR" sz="1450" b="1" dirty="0">
                <a:solidFill>
                  <a:srgbClr val="287E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sz="1450" b="1" dirty="0">
                <a:solidFill>
                  <a:srgbClr val="287E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sz="1450" b="1" dirty="0" err="1">
                <a:solidFill>
                  <a:srgbClr val="287E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Boxes</a:t>
            </a:r>
            <a:r>
              <a:rPr lang="ko-KR" sz="1450" b="1" dirty="0">
                <a:solidFill>
                  <a:srgbClr val="287E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집중 학습 · </a:t>
            </a:r>
            <a:r>
              <a:rPr lang="ko-KR" sz="1450" b="1" dirty="0" err="1">
                <a:solidFill>
                  <a:srgbClr val="287E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발별</a:t>
            </a:r>
            <a:r>
              <a:rPr lang="ko-KR" sz="1450" b="1" dirty="0">
                <a:solidFill>
                  <a:srgbClr val="287E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접촉/정체 이력 활용 · </a:t>
            </a:r>
            <a:r>
              <a:rPr lang="ko-KR" sz="1450" b="1" dirty="0" err="1">
                <a:solidFill>
                  <a:srgbClr val="287E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지형별</a:t>
            </a:r>
            <a:r>
              <a:rPr lang="ko-KR" sz="1450" b="1" dirty="0">
                <a:solidFill>
                  <a:srgbClr val="287E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sz="1450" b="1" dirty="0" err="1">
                <a:solidFill>
                  <a:srgbClr val="287E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탈출률</a:t>
            </a:r>
            <a:r>
              <a:rPr lang="ko-KR" sz="1450" b="1" dirty="0">
                <a:solidFill>
                  <a:srgbClr val="287E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평가</a:t>
            </a:r>
            <a:endParaRPr lang="ko-KR" sz="14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1" name="Conclusion takeaway"/>
          <p:cNvSpPr txBox="1"/>
          <p:nvPr/>
        </p:nvSpPr>
        <p:spPr>
          <a:xfrm>
            <a:off x="713232" y="5550408"/>
            <a:ext cx="9720072" cy="585216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65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평균 보행 성능 개선에 더해,</a:t>
            </a:r>
            <a:endParaRPr lang="ko-KR" sz="16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ko-KR" sz="165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장애물에 걸렸을 때의 </a:t>
            </a:r>
            <a:r>
              <a:rPr lang="ko-KR" sz="1650" b="1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탈출·회복</a:t>
            </a:r>
            <a:r>
              <a:rPr lang="ko-KR" sz="165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능력을 별도로 강화해야 한다.</a:t>
            </a:r>
            <a:endParaRPr lang="ko-KR" sz="16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F0D180-1136-467F-83DC-E517B6677749}"/>
              </a:ext>
            </a:extLst>
          </p:cNvPr>
          <p:cNvSpPr txBox="1"/>
          <p:nvPr/>
        </p:nvSpPr>
        <p:spPr>
          <a:xfrm>
            <a:off x="548640" y="517094"/>
            <a:ext cx="5815584" cy="7412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ko-KR"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  </a:t>
            </a:r>
            <a:r>
              <a:rPr lang="ko-KR" altLang="en-US" sz="2200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 </a:t>
            </a:r>
            <a:r>
              <a:rPr lang="ko-KR" altLang="en-US" b="1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➁ </a:t>
            </a:r>
            <a:r>
              <a:rPr lang="ko-KR" altLang="en-US" dirty="0">
                <a:solidFill>
                  <a:srgbClr val="14375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시행착오 및 결론</a:t>
            </a:r>
          </a:p>
          <a:p>
            <a:pPr>
              <a:spcAft>
                <a:spcPts val="500"/>
              </a:spcAft>
            </a:pPr>
            <a:endParaRPr lang="ko-KR" altLang="en-US" sz="2200" b="1" dirty="0">
              <a:solidFill>
                <a:srgbClr val="14375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anchor="ctr"/>
      <a:lstStyle>
        <a:defPPr algn="ctr">
          <a:defRPr lang="ko-KR" altLang="en-US">
            <a:noFill/>
          </a:defRPr>
        </a:defPPr>
      </a:lstStyle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1474</Words>
  <Application>Microsoft Office PowerPoint</Application>
  <PresentationFormat>사용자 지정</PresentationFormat>
  <Paragraphs>186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Noto Sans CJK KR</vt:lpstr>
      <vt:lpstr>Pretendard Variable SemiBold</vt:lpstr>
      <vt:lpstr>맑은 고딕</vt:lpstr>
      <vt:lpstr>함초롬돋움</vt:lpstr>
      <vt:lpstr>Arial</vt:lpstr>
      <vt:lpstr>Times New Roman</vt:lpstr>
      <vt:lpstr>한컴오피스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처음 보는 험지에서도 걷는 Ant 만들기</dc:title>
  <dc:subject>실습 과제1 · 실험 설계, 방법, 결과 및 분석 · 5분 발표 초안</dc:subject>
  <dc:creator>로보틱스시뮬레이션 실습</dc:creator>
  <cp:keywords>Isaac Lab, Ant, PPO, Curriculum RL, RayCaster, Reward</cp:keywords>
  <cp:lastModifiedBy>User</cp:lastModifiedBy>
  <cp:revision>159</cp:revision>
  <dcterms:created xsi:type="dcterms:W3CDTF">2020-05-24T06:44:59Z</dcterms:created>
  <dcterms:modified xsi:type="dcterms:W3CDTF">2026-10-06T03:04:25Z</dcterms:modified>
  <cp:version>1000.0000.01</cp:version>
</cp:coreProperties>
</file>